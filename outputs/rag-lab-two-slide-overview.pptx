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1C"/>
    <a:srgbClr val="D7C807"/>
    <a:srgbClr val="FFFF00"/>
    <a:srgbClr val="C00000"/>
    <a:srgbClr val="646464"/>
    <a:srgbClr val="CC0000"/>
    <a:srgbClr val="616161"/>
    <a:srgbClr val="FFFFFF"/>
    <a:srgbClr val="15608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9179-9E53-EED6-B775-2D03B9C3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6BB50-70AC-75CF-C876-B86DD2DAE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FDA90-AD50-CA81-A6C6-14DF6CC1B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FAEA9-49C3-A16D-4E78-8156921443A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4713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7C84-E97F-664B-77E5-4638E631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0CBF8-A289-91C2-BC2A-49C1AA7A9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BE91B-5389-34F1-4A74-8372BB2C2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3371F-C3DE-E178-E0E8-B9E816DE0B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9176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7130187-2404-4F46-B5EF-56CB732CF80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</a:defRPr>
            </a:pPr>
            <a:r>
              <a:rPr sz="1350" b="1" dirty="0">
                <a:solidFill>
                  <a:srgbClr val="646464"/>
                </a:solidFill>
              </a:rPr>
              <a:t>RAG-Lab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79A39F-4BC9-46E3-8125-939EDDC02AF2}"/>
              </a:ext>
            </a:extLst>
          </p:cNvPr>
          <p:cNvSpPr>
            <a:spLocks noGrp="1"/>
          </p:cNvSpPr>
          <p:nvPr/>
        </p:nvSpPr>
        <p:spPr>
          <a:xfrm>
            <a:off x="11416145" y="361950"/>
            <a:ext cx="37580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55555"/>
                </a:solidFill>
              </a:defRPr>
            </a:pPr>
            <a:r>
              <a:rPr lang="en-US" altLang="zh-CN" sz="1050" b="1" dirty="0">
                <a:solidFill>
                  <a:srgbClr val="646464"/>
                </a:solidFill>
              </a:rPr>
              <a:t>01 </a:t>
            </a:r>
            <a:endParaRPr lang="zh-CN" altLang="en-US" sz="1050" b="1" dirty="0">
              <a:solidFill>
                <a:srgbClr val="646464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891C55-50F1-492D-A00D-81CA86FC2D9C}"/>
              </a:ext>
            </a:extLst>
          </p:cNvPr>
          <p:cNvSpPr>
            <a:spLocks noGrp="1"/>
          </p:cNvSpPr>
          <p:nvPr/>
        </p:nvSpPr>
        <p:spPr>
          <a:xfrm>
            <a:off x="400049" y="635790"/>
            <a:ext cx="9307369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11111"/>
                </a:solidFill>
              </a:defRPr>
            </a:pPr>
            <a:r>
              <a:rPr lang="zh-CN" altLang="zh-CN" sz="3750" b="1" dirty="0">
                <a:solidFill>
                  <a:srgbClr val="C00000"/>
                </a:solidFill>
              </a:rPr>
              <a:t>从</a:t>
            </a:r>
            <a:r>
              <a:rPr lang="zh-CN" altLang="zh-CN" sz="3700" b="1" dirty="0">
                <a:solidFill>
                  <a:srgbClr val="C00000"/>
                </a:solidFill>
              </a:rPr>
              <a:t>“知识治理”</a:t>
            </a:r>
            <a:r>
              <a:rPr lang="zh-CN" altLang="zh-CN" sz="3750" b="1" dirty="0">
                <a:solidFill>
                  <a:srgbClr val="C00000"/>
                </a:solidFill>
              </a:rPr>
              <a:t>到“业务助手”的企业 RAG 平台</a:t>
            </a:r>
            <a:endParaRPr sz="3750" b="1" dirty="0">
              <a:solidFill>
                <a:srgbClr val="C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6DB65E-82C8-477C-8D6A-75F4D3AB1B99}"/>
              </a:ext>
            </a:extLst>
          </p:cNvPr>
          <p:cNvSpPr>
            <a:spLocks noGrp="1"/>
          </p:cNvSpPr>
          <p:nvPr/>
        </p:nvSpPr>
        <p:spPr>
          <a:xfrm>
            <a:off x="400049" y="1435890"/>
            <a:ext cx="9030278" cy="36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555555"/>
                </a:solidFill>
              </a:defRPr>
            </a:pPr>
            <a:r>
              <a:rPr lang="zh-CN" altLang="zh-CN" dirty="0"/>
              <a:t>让企业知识快速封装为可用应用，例如知识问答助手、员工培训助手、制度咨询助手等。</a:t>
            </a:r>
            <a:endParaRPr lang="zh-CN" altLang="en-US" dirty="0">
              <a:solidFill>
                <a:srgbClr val="555555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FF5CDE-4560-4AF0-97B4-B550CD606834}"/>
              </a:ext>
            </a:extLst>
          </p:cNvPr>
          <p:cNvSpPr>
            <a:spLocks noGrp="1"/>
          </p:cNvSpPr>
          <p:nvPr/>
        </p:nvSpPr>
        <p:spPr>
          <a:xfrm>
            <a:off x="9919855" y="638175"/>
            <a:ext cx="1496290" cy="1165583"/>
          </a:xfrm>
          <a:prstGeom prst="roundRect">
            <a:avLst>
              <a:gd name="adj" fmla="val 1563"/>
            </a:avLst>
          </a:prstGeom>
          <a:solidFill>
            <a:srgbClr val="C00000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lnSpc>
                <a:spcPts val="2400"/>
              </a:lnSpc>
            </a:pPr>
            <a:r>
              <a:rPr lang="zh-CN" altLang="en-US" b="1" spc="300" dirty="0">
                <a:solidFill>
                  <a:srgbClr val="FFFFFF"/>
                </a:solidFill>
              </a:rPr>
              <a:t>更快上线 </a:t>
            </a:r>
            <a:br>
              <a:rPr lang="zh-CN" altLang="en-US" b="1" spc="300" dirty="0">
                <a:solidFill>
                  <a:srgbClr val="FFFFFF"/>
                </a:solidFill>
              </a:rPr>
            </a:br>
            <a:r>
              <a:rPr lang="zh-CN" altLang="en-US" b="1" spc="300" dirty="0">
                <a:solidFill>
                  <a:srgbClr val="FFFFFF"/>
                </a:solidFill>
              </a:rPr>
              <a:t>更准命中 </a:t>
            </a:r>
            <a:br>
              <a:rPr lang="zh-CN" altLang="en-US" b="1" spc="300" dirty="0">
                <a:solidFill>
                  <a:srgbClr val="FFFFFF"/>
                </a:solidFill>
              </a:rPr>
            </a:br>
            <a:r>
              <a:rPr lang="zh-CN" altLang="en-US" b="1" spc="300" dirty="0">
                <a:solidFill>
                  <a:srgbClr val="FFFFFF"/>
                </a:solidFill>
              </a:rPr>
              <a:t>更稳运营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A8CA485-0F73-447F-BF28-121AEFEC63F0}"/>
              </a:ext>
            </a:extLst>
          </p:cNvPr>
          <p:cNvSpPr>
            <a:spLocks noGrp="1"/>
          </p:cNvSpPr>
          <p:nvPr/>
        </p:nvSpPr>
        <p:spPr>
          <a:xfrm>
            <a:off x="400049" y="2102859"/>
            <a:ext cx="3562350" cy="2133600"/>
          </a:xfrm>
          <a:prstGeom prst="roundRect">
            <a:avLst>
              <a:gd name="adj" fmla="val 893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95B250-BA84-47F8-A935-84FFE177189E}"/>
              </a:ext>
            </a:extLst>
          </p:cNvPr>
          <p:cNvSpPr>
            <a:spLocks noGrp="1"/>
          </p:cNvSpPr>
          <p:nvPr/>
        </p:nvSpPr>
        <p:spPr>
          <a:xfrm>
            <a:off x="609599" y="231240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6B35"/>
                </a:solidFill>
              </a:defRPr>
            </a:pPr>
            <a:r>
              <a:rPr sz="1275" b="1" dirty="0">
                <a:solidFill>
                  <a:srgbClr val="C00000"/>
                </a:solidFill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2C756C-F2D2-42CB-8801-FD76801910D3}"/>
              </a:ext>
            </a:extLst>
          </p:cNvPr>
          <p:cNvSpPr>
            <a:spLocks noGrp="1"/>
          </p:cNvSpPr>
          <p:nvPr/>
        </p:nvSpPr>
        <p:spPr>
          <a:xfrm>
            <a:off x="609599" y="265530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lang="zh-CN" altLang="zh-CN" sz="1875" b="1" dirty="0"/>
              <a:t>开箱即用，专家可调</a:t>
            </a:r>
            <a:br>
              <a:rPr lang="zh-CN" altLang="zh-CN" sz="1875" b="1" dirty="0"/>
            </a:br>
            <a:endParaRPr sz="1875" b="1" dirty="0">
              <a:solidFill>
                <a:srgbClr val="11111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B9EEE3-ADFB-4963-A205-EC5C72AF3040}"/>
              </a:ext>
            </a:extLst>
          </p:cNvPr>
          <p:cNvSpPr>
            <a:spLocks noGrp="1"/>
          </p:cNvSpPr>
          <p:nvPr/>
        </p:nvSpPr>
        <p:spPr>
          <a:xfrm>
            <a:off x="609599" y="3093459"/>
            <a:ext cx="3143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55555"/>
                </a:solidFill>
              </a:defRPr>
            </a:pPr>
            <a:r>
              <a:rPr lang="zh-CN" altLang="zh-CN" sz="1275" dirty="0"/>
              <a:t>内置分阶段 RAG 管线和默认配置，业务可快速上线；后续可对检索、召回、排序、生成逐项调优</a:t>
            </a:r>
            <a:r>
              <a:rPr lang="zh-CN" altLang="en-US" sz="1275" dirty="0"/>
              <a:t>。</a:t>
            </a:r>
            <a:endParaRPr lang="zh-CN" altLang="en-US" sz="1275" dirty="0">
              <a:solidFill>
                <a:srgbClr val="555555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A03DD3D-9A1D-474C-A1F5-88BAB07AB78B}"/>
              </a:ext>
            </a:extLst>
          </p:cNvPr>
          <p:cNvSpPr>
            <a:spLocks noGrp="1"/>
          </p:cNvSpPr>
          <p:nvPr/>
        </p:nvSpPr>
        <p:spPr>
          <a:xfrm>
            <a:off x="4314824" y="2102859"/>
            <a:ext cx="3562350" cy="2133600"/>
          </a:xfrm>
          <a:prstGeom prst="roundRect">
            <a:avLst>
              <a:gd name="adj" fmla="val 8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3F87DD-C251-4CAE-88C1-FCD1B5A1A3FF}"/>
              </a:ext>
            </a:extLst>
          </p:cNvPr>
          <p:cNvSpPr>
            <a:spLocks noGrp="1"/>
          </p:cNvSpPr>
          <p:nvPr/>
        </p:nvSpPr>
        <p:spPr>
          <a:xfrm>
            <a:off x="4524374" y="231240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</a:defRPr>
            </a:pPr>
            <a:r>
              <a:rPr sz="1275" b="1" dirty="0">
                <a:solidFill>
                  <a:srgbClr val="646464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1B0913-0A38-4A96-8D0C-2168E5B42D85}"/>
              </a:ext>
            </a:extLst>
          </p:cNvPr>
          <p:cNvSpPr>
            <a:spLocks noGrp="1"/>
          </p:cNvSpPr>
          <p:nvPr/>
        </p:nvSpPr>
        <p:spPr>
          <a:xfrm>
            <a:off x="4524374" y="265530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lang="zh-CN" altLang="zh-CN" sz="1875" b="1" dirty="0"/>
              <a:t>多通道检索增强</a:t>
            </a:r>
            <a:endParaRPr sz="1875" b="1" dirty="0">
              <a:solidFill>
                <a:srgbClr val="11111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641EF5-5EAB-4E05-B9AD-D93476F4EF22}"/>
              </a:ext>
            </a:extLst>
          </p:cNvPr>
          <p:cNvSpPr>
            <a:spLocks noGrp="1"/>
          </p:cNvSpPr>
          <p:nvPr/>
        </p:nvSpPr>
        <p:spPr>
          <a:xfrm>
            <a:off x="4524374" y="3093459"/>
            <a:ext cx="3143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55555"/>
                </a:solidFill>
              </a:defRPr>
            </a:pPr>
            <a:r>
              <a:rPr lang="zh-CN" altLang="zh-CN" sz="1275" dirty="0"/>
              <a:t>支持语义、关键词、知识图谱三路检索，可独立开关和调权重，提升复杂问题和跨文档问题命中率。</a:t>
            </a:r>
            <a:endParaRPr sz="1275" b="0" dirty="0">
              <a:solidFill>
                <a:srgbClr val="555555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C92815E-D221-448A-A165-0C0CE8463258}"/>
              </a:ext>
            </a:extLst>
          </p:cNvPr>
          <p:cNvSpPr>
            <a:spLocks noGrp="1"/>
          </p:cNvSpPr>
          <p:nvPr/>
        </p:nvSpPr>
        <p:spPr>
          <a:xfrm>
            <a:off x="8229599" y="2102859"/>
            <a:ext cx="3562350" cy="2133600"/>
          </a:xfrm>
          <a:prstGeom prst="roundRect">
            <a:avLst>
              <a:gd name="adj" fmla="val 893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5E7BD9-61DC-450C-9899-C874361E2179}"/>
              </a:ext>
            </a:extLst>
          </p:cNvPr>
          <p:cNvSpPr>
            <a:spLocks noGrp="1"/>
          </p:cNvSpPr>
          <p:nvPr/>
        </p:nvSpPr>
        <p:spPr>
          <a:xfrm>
            <a:off x="8439149" y="231240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</a:defRPr>
            </a:pPr>
            <a:r>
              <a:rPr sz="1275" b="1" dirty="0">
                <a:solidFill>
                  <a:srgbClr val="C00000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E4936F-AA3D-4C5C-AA47-8A6F49F23FE3}"/>
              </a:ext>
            </a:extLst>
          </p:cNvPr>
          <p:cNvSpPr>
            <a:spLocks noGrp="1"/>
          </p:cNvSpPr>
          <p:nvPr/>
        </p:nvSpPr>
        <p:spPr>
          <a:xfrm>
            <a:off x="8439149" y="265530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lang="zh-CN" altLang="zh-CN" sz="1875" b="1" dirty="0"/>
              <a:t>全过程可视化追踪</a:t>
            </a:r>
            <a:endParaRPr sz="1875" b="1" dirty="0">
              <a:solidFill>
                <a:srgbClr val="11111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6984FB-0B4C-428B-B41A-9A2BCC11DD2E}"/>
              </a:ext>
            </a:extLst>
          </p:cNvPr>
          <p:cNvSpPr>
            <a:spLocks noGrp="1"/>
          </p:cNvSpPr>
          <p:nvPr/>
        </p:nvSpPr>
        <p:spPr>
          <a:xfrm>
            <a:off x="8439149" y="3093459"/>
            <a:ext cx="3143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55555"/>
                </a:solidFill>
              </a:defRPr>
            </a:pPr>
            <a:r>
              <a:rPr lang="zh-CN" altLang="zh-CN" sz="1275" dirty="0"/>
              <a:t>完整追踪问题理解、检索、排序、生成过程，清楚展示 AI 为什么这样答、引用了哪些资料。</a:t>
            </a:r>
            <a:endParaRPr sz="1275" b="0" dirty="0">
              <a:solidFill>
                <a:srgbClr val="555555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007A9CC-E9A0-3760-02FB-B984BCC3DD6E}"/>
              </a:ext>
            </a:extLst>
          </p:cNvPr>
          <p:cNvSpPr>
            <a:spLocks noGrp="1"/>
          </p:cNvSpPr>
          <p:nvPr/>
        </p:nvSpPr>
        <p:spPr>
          <a:xfrm>
            <a:off x="400049" y="4369809"/>
            <a:ext cx="3562350" cy="2133600"/>
          </a:xfrm>
          <a:prstGeom prst="roundRect">
            <a:avLst>
              <a:gd name="adj" fmla="val 8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051C3A-F2A9-BC5E-6CB8-946647654D86}"/>
              </a:ext>
            </a:extLst>
          </p:cNvPr>
          <p:cNvSpPr>
            <a:spLocks noGrp="1"/>
          </p:cNvSpPr>
          <p:nvPr/>
        </p:nvSpPr>
        <p:spPr>
          <a:xfrm>
            <a:off x="609599" y="45793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</a:defRPr>
            </a:pPr>
            <a:r>
              <a:rPr sz="1275" b="1" dirty="0">
                <a:solidFill>
                  <a:srgbClr val="646464"/>
                </a:solidFill>
              </a:rPr>
              <a:t>0</a:t>
            </a:r>
            <a:r>
              <a:rPr lang="en-US" sz="1275" b="1" dirty="0">
                <a:solidFill>
                  <a:srgbClr val="646464"/>
                </a:solidFill>
              </a:rPr>
              <a:t>4</a:t>
            </a:r>
            <a:endParaRPr sz="1275" b="1" dirty="0">
              <a:solidFill>
                <a:srgbClr val="646464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31EEED-0BB0-2470-A80E-13FFC56CFFD1}"/>
              </a:ext>
            </a:extLst>
          </p:cNvPr>
          <p:cNvSpPr>
            <a:spLocks noGrp="1"/>
          </p:cNvSpPr>
          <p:nvPr/>
        </p:nvSpPr>
        <p:spPr>
          <a:xfrm>
            <a:off x="609599" y="492225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lang="zh-CN" altLang="zh-CN" sz="1875" b="1" dirty="0"/>
              <a:t>配置版本管理</a:t>
            </a:r>
            <a:endParaRPr sz="1875" b="1" dirty="0">
              <a:solidFill>
                <a:srgbClr val="11111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1FF204-4B7E-AF9C-32BD-A0CF4B3C5818}"/>
              </a:ext>
            </a:extLst>
          </p:cNvPr>
          <p:cNvSpPr>
            <a:spLocks noGrp="1"/>
          </p:cNvSpPr>
          <p:nvPr/>
        </p:nvSpPr>
        <p:spPr>
          <a:xfrm>
            <a:off x="609599" y="5360409"/>
            <a:ext cx="3143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55555"/>
                </a:solidFill>
              </a:defRPr>
            </a:pPr>
            <a:r>
              <a:rPr lang="zh-CN" altLang="zh-CN" sz="1275" dirty="0"/>
              <a:t>每次配置变更自动留版，支持对比和一键回滚，让调优过程可追溯、可复现、可撤销。</a:t>
            </a:r>
            <a:endParaRPr sz="1275" b="0" dirty="0">
              <a:solidFill>
                <a:srgbClr val="555555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BACCB6F-3EC7-9D55-3EA5-2F4137C9EFA9}"/>
              </a:ext>
            </a:extLst>
          </p:cNvPr>
          <p:cNvSpPr>
            <a:spLocks noGrp="1"/>
          </p:cNvSpPr>
          <p:nvPr/>
        </p:nvSpPr>
        <p:spPr>
          <a:xfrm>
            <a:off x="4314824" y="4369809"/>
            <a:ext cx="3562350" cy="2133600"/>
          </a:xfrm>
          <a:prstGeom prst="roundRect">
            <a:avLst>
              <a:gd name="adj" fmla="val 893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768BD8A-A20E-0CDA-114D-F770FF8DFE1B}"/>
              </a:ext>
            </a:extLst>
          </p:cNvPr>
          <p:cNvSpPr>
            <a:spLocks noGrp="1"/>
          </p:cNvSpPr>
          <p:nvPr/>
        </p:nvSpPr>
        <p:spPr>
          <a:xfrm>
            <a:off x="4524374" y="45793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</a:defRPr>
            </a:pPr>
            <a:r>
              <a:rPr sz="1275" b="1" dirty="0">
                <a:solidFill>
                  <a:srgbClr val="C00000"/>
                </a:solidFill>
              </a:rPr>
              <a:t>0</a:t>
            </a:r>
            <a:r>
              <a:rPr lang="en-US" sz="1275" b="1" dirty="0">
                <a:solidFill>
                  <a:srgbClr val="C00000"/>
                </a:solidFill>
              </a:rPr>
              <a:t>5</a:t>
            </a:r>
            <a:endParaRPr sz="1275" b="1" dirty="0">
              <a:solidFill>
                <a:srgbClr val="C0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D77B11-818F-1396-81BC-EF9FB74A6E41}"/>
              </a:ext>
            </a:extLst>
          </p:cNvPr>
          <p:cNvSpPr>
            <a:spLocks noGrp="1"/>
          </p:cNvSpPr>
          <p:nvPr/>
        </p:nvSpPr>
        <p:spPr>
          <a:xfrm>
            <a:off x="4524374" y="492225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lang="zh-CN" altLang="zh-CN" sz="1875" b="1" dirty="0"/>
              <a:t>多模态文档理解</a:t>
            </a:r>
            <a:endParaRPr sz="1875" b="1" dirty="0">
              <a:solidFill>
                <a:srgbClr val="11111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8C470C-F493-1ADB-9508-FA14FF417C3E}"/>
              </a:ext>
            </a:extLst>
          </p:cNvPr>
          <p:cNvSpPr>
            <a:spLocks noGrp="1"/>
          </p:cNvSpPr>
          <p:nvPr/>
        </p:nvSpPr>
        <p:spPr>
          <a:xfrm>
            <a:off x="4524374" y="5360409"/>
            <a:ext cx="3143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55555"/>
                </a:solidFill>
              </a:defRPr>
            </a:pPr>
            <a:r>
              <a:rPr lang="zh-CN" altLang="zh-CN" sz="1275" dirty="0"/>
              <a:t>支持图片、扫描件、流程图、合同、发票等内容解析，让非纯文本知识也能被检索和问答使用。</a:t>
            </a:r>
            <a:endParaRPr sz="1275" b="0" dirty="0">
              <a:solidFill>
                <a:srgbClr val="555555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139E661-345C-926E-FB58-2A5170D2ACC3}"/>
              </a:ext>
            </a:extLst>
          </p:cNvPr>
          <p:cNvSpPr>
            <a:spLocks noGrp="1"/>
          </p:cNvSpPr>
          <p:nvPr/>
        </p:nvSpPr>
        <p:spPr>
          <a:xfrm>
            <a:off x="8229599" y="4369809"/>
            <a:ext cx="3562350" cy="2133600"/>
          </a:xfrm>
          <a:prstGeom prst="roundRect">
            <a:avLst>
              <a:gd name="adj" fmla="val 8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F2C111-BD24-F4FE-B3AF-BFE327A8D492}"/>
              </a:ext>
            </a:extLst>
          </p:cNvPr>
          <p:cNvSpPr>
            <a:spLocks noGrp="1"/>
          </p:cNvSpPr>
          <p:nvPr/>
        </p:nvSpPr>
        <p:spPr>
          <a:xfrm>
            <a:off x="8439149" y="457935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</a:defRPr>
            </a:pPr>
            <a:r>
              <a:rPr sz="1275" b="1" dirty="0">
                <a:solidFill>
                  <a:srgbClr val="646464"/>
                </a:solidFill>
              </a:rPr>
              <a:t>0</a:t>
            </a:r>
            <a:r>
              <a:rPr lang="en-US" sz="1275" b="1" dirty="0">
                <a:solidFill>
                  <a:srgbClr val="646464"/>
                </a:solidFill>
              </a:rPr>
              <a:t>6</a:t>
            </a:r>
            <a:endParaRPr sz="1275" b="1" dirty="0">
              <a:solidFill>
                <a:srgbClr val="646464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EF589ED-F2A9-4416-787B-4617F25C556F}"/>
              </a:ext>
            </a:extLst>
          </p:cNvPr>
          <p:cNvSpPr>
            <a:spLocks noGrp="1"/>
          </p:cNvSpPr>
          <p:nvPr/>
        </p:nvSpPr>
        <p:spPr>
          <a:xfrm>
            <a:off x="8439149" y="492225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1111"/>
                </a:solidFill>
              </a:defRPr>
            </a:pPr>
            <a:r>
              <a:rPr lang="zh-CN" altLang="zh-CN" sz="1875" b="1" dirty="0"/>
              <a:t>企业级安全管控</a:t>
            </a:r>
            <a:br>
              <a:rPr lang="zh-CN" altLang="zh-CN" sz="1875" b="1" dirty="0"/>
            </a:br>
            <a:endParaRPr sz="1875" b="1" dirty="0">
              <a:solidFill>
                <a:srgbClr val="11111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893F01-0A72-D862-604D-8F1A22D6A1DC}"/>
              </a:ext>
            </a:extLst>
          </p:cNvPr>
          <p:cNvSpPr>
            <a:spLocks noGrp="1"/>
          </p:cNvSpPr>
          <p:nvPr/>
        </p:nvSpPr>
        <p:spPr>
          <a:xfrm>
            <a:off x="8439149" y="5360409"/>
            <a:ext cx="3143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55555"/>
                </a:solidFill>
              </a:defRPr>
            </a:pPr>
            <a:r>
              <a:rPr lang="zh-CN" altLang="zh-CN" sz="1275" dirty="0"/>
              <a:t>支持平台、知识库、文档库到文档片段级权限控制，实现不同岗位、部门访问不同知识。</a:t>
            </a:r>
            <a:endParaRPr sz="1275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10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E15D8DA-893F-649D-7811-7AA7174A58DC}"/>
              </a:ext>
            </a:extLst>
          </p:cNvPr>
          <p:cNvSpPr/>
          <p:nvPr/>
        </p:nvSpPr>
        <p:spPr>
          <a:xfrm>
            <a:off x="8145337" y="3110578"/>
            <a:ext cx="2443463" cy="115200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B71019-DC82-AA75-A686-566D4CEEF3C0}"/>
              </a:ext>
            </a:extLst>
          </p:cNvPr>
          <p:cNvSpPr/>
          <p:nvPr/>
        </p:nvSpPr>
        <p:spPr>
          <a:xfrm>
            <a:off x="4146550" y="3121730"/>
            <a:ext cx="3890124" cy="115200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26F3CB57-6D5D-1C30-E0B5-285B8732932A}"/>
              </a:ext>
            </a:extLst>
          </p:cNvPr>
          <p:cNvSpPr>
            <a:spLocks noGrp="1"/>
          </p:cNvSpPr>
          <p:nvPr/>
        </p:nvSpPr>
        <p:spPr>
          <a:xfrm>
            <a:off x="419100" y="5358748"/>
            <a:ext cx="10172700" cy="1101747"/>
          </a:xfrm>
          <a:prstGeom prst="roundRect">
            <a:avLst>
              <a:gd name="adj" fmla="val 8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16982C-8F18-4F07-BD5B-A7B1A3ED9A8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r>
              <a:rPr lang="en-US" altLang="zh-CN" sz="1350" b="1" dirty="0">
                <a:solidFill>
                  <a:srgbClr val="646464"/>
                </a:solidFill>
              </a:rPr>
              <a:t>RAG-Lab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F76D75-1403-4275-8C45-E7463837F7AD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55555"/>
                </a:solidFill>
              </a:defRPr>
            </a:pPr>
            <a:r>
              <a:rPr lang="en-US" altLang="zh-CN" sz="1050" b="1" dirty="0">
                <a:solidFill>
                  <a:srgbClr val="646464"/>
                </a:solidFill>
              </a:rPr>
              <a:t>02</a:t>
            </a:r>
            <a:endParaRPr sz="1050" b="1" dirty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454E8D-E549-49B8-9971-451BEE2A4E77}"/>
              </a:ext>
            </a:extLst>
          </p:cNvPr>
          <p:cNvSpPr>
            <a:spLocks noGrp="1"/>
          </p:cNvSpPr>
          <p:nvPr/>
        </p:nvSpPr>
        <p:spPr>
          <a:xfrm>
            <a:off x="400050" y="707161"/>
            <a:ext cx="10191750" cy="6946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lang="zh-CN" altLang="en-US" sz="3700" b="1" dirty="0">
                <a:solidFill>
                  <a:srgbClr val="C00000"/>
                </a:solidFill>
              </a:rPr>
              <a:t>三层架构，把企业文档转化为可调用的 </a:t>
            </a:r>
            <a:r>
              <a:rPr lang="en-US" altLang="zh-CN" sz="3700" b="1" dirty="0">
                <a:solidFill>
                  <a:srgbClr val="C00000"/>
                </a:solidFill>
              </a:rPr>
              <a:t>AI </a:t>
            </a:r>
            <a:r>
              <a:rPr lang="zh-CN" altLang="en-US" sz="3700" b="1" dirty="0">
                <a:solidFill>
                  <a:srgbClr val="C00000"/>
                </a:solidFill>
              </a:rPr>
              <a:t>应用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C4C316-4010-492B-8BE7-E4D6F2E24845}"/>
              </a:ext>
            </a:extLst>
          </p:cNvPr>
          <p:cNvSpPr>
            <a:spLocks noGrp="1"/>
          </p:cNvSpPr>
          <p:nvPr/>
        </p:nvSpPr>
        <p:spPr>
          <a:xfrm>
            <a:off x="419100" y="1345278"/>
            <a:ext cx="9715500" cy="3424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zh-CN" altLang="en-US" sz="1700" b="0" dirty="0">
                <a:solidFill>
                  <a:srgbClr val="555555"/>
                </a:solidFill>
              </a:rPr>
              <a:t>底层统一管理知识资产，中间完成治理与增强，上层快速封装为业务助手和外部应用能力。</a:t>
            </a:r>
            <a:endParaRPr sz="1700" b="0" dirty="0">
              <a:solidFill>
                <a:srgbClr val="555555"/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4D521DB-C64F-4CF1-995B-80C9D60C1A63}"/>
              </a:ext>
            </a:extLst>
          </p:cNvPr>
          <p:cNvSpPr>
            <a:spLocks noGrp="1"/>
          </p:cNvSpPr>
          <p:nvPr/>
        </p:nvSpPr>
        <p:spPr>
          <a:xfrm>
            <a:off x="10676111" y="5648850"/>
            <a:ext cx="1144072" cy="524596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</a:rPr>
              <a:t>底层技术与服务组件</a:t>
            </a:r>
            <a:endParaRPr lang="zh-CN" altLang="en-US" sz="1400" dirty="0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7601A2E-DD4D-4ADD-91CE-9B105654B334}"/>
              </a:ext>
            </a:extLst>
          </p:cNvPr>
          <p:cNvSpPr>
            <a:spLocks noGrp="1"/>
          </p:cNvSpPr>
          <p:nvPr/>
        </p:nvSpPr>
        <p:spPr>
          <a:xfrm>
            <a:off x="649567" y="5490405"/>
            <a:ext cx="1440000" cy="828000"/>
          </a:xfrm>
          <a:prstGeom prst="roundRect">
            <a:avLst>
              <a:gd name="adj" fmla="val 3226"/>
            </a:avLst>
          </a:prstGeom>
          <a:solidFill>
            <a:schemeClr val="bg2">
              <a:lumMod val="9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111111"/>
                </a:solidFill>
              </a:rPr>
              <a:t>PostgreSQL / MySQL</a:t>
            </a:r>
          </a:p>
          <a:p>
            <a:pPr algn="ctr"/>
            <a:r>
              <a:rPr lang="zh-CN" altLang="en-US" sz="1400" b="1" dirty="0">
                <a:solidFill>
                  <a:srgbClr val="111111"/>
                </a:solidFill>
              </a:rPr>
              <a:t>主数据真值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A469200-1CFC-4C9D-B0EE-FA00F0991870}"/>
              </a:ext>
            </a:extLst>
          </p:cNvPr>
          <p:cNvSpPr>
            <a:spLocks noGrp="1"/>
          </p:cNvSpPr>
          <p:nvPr/>
        </p:nvSpPr>
        <p:spPr>
          <a:xfrm>
            <a:off x="1174145" y="5648850"/>
            <a:ext cx="125610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1DC1D9A-D313-4542-8912-BF20C651B62E}"/>
              </a:ext>
            </a:extLst>
          </p:cNvPr>
          <p:cNvSpPr>
            <a:spLocks noGrp="1"/>
          </p:cNvSpPr>
          <p:nvPr/>
        </p:nvSpPr>
        <p:spPr>
          <a:xfrm>
            <a:off x="2316540" y="5478268"/>
            <a:ext cx="1440000" cy="828000"/>
          </a:xfrm>
          <a:prstGeom prst="roundRect">
            <a:avLst>
              <a:gd name="adj" fmla="val 3226"/>
            </a:avLst>
          </a:prstGeom>
          <a:solidFill>
            <a:schemeClr val="bg2">
              <a:lumMod val="9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400" b="1" dirty="0" err="1">
                <a:solidFill>
                  <a:srgbClr val="111111"/>
                </a:solidFill>
              </a:rPr>
              <a:t>MinIO</a:t>
            </a:r>
            <a:endParaRPr lang="en-US" altLang="zh-CN" sz="1400" b="1" dirty="0">
              <a:solidFill>
                <a:srgbClr val="111111"/>
              </a:solidFill>
            </a:endParaRPr>
          </a:p>
          <a:p>
            <a:pPr algn="ctr"/>
            <a:r>
              <a:rPr lang="zh-CN" altLang="en-US" sz="1400" b="1" dirty="0">
                <a:solidFill>
                  <a:srgbClr val="111111"/>
                </a:solidFill>
              </a:rPr>
              <a:t>对象存储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D935EA7-4B6B-44B0-8279-CA44E47AC2DF}"/>
              </a:ext>
            </a:extLst>
          </p:cNvPr>
          <p:cNvSpPr>
            <a:spLocks noGrp="1"/>
          </p:cNvSpPr>
          <p:nvPr/>
        </p:nvSpPr>
        <p:spPr>
          <a:xfrm>
            <a:off x="2763153" y="5648850"/>
            <a:ext cx="11053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69ADC59-C1C8-4A86-8EF2-3364537258D6}"/>
              </a:ext>
            </a:extLst>
          </p:cNvPr>
          <p:cNvSpPr>
            <a:spLocks noGrp="1"/>
          </p:cNvSpPr>
          <p:nvPr/>
        </p:nvSpPr>
        <p:spPr>
          <a:xfrm>
            <a:off x="3983513" y="5478267"/>
            <a:ext cx="1440000" cy="828000"/>
          </a:xfrm>
          <a:prstGeom prst="roundRect">
            <a:avLst>
              <a:gd name="adj" fmla="val 3226"/>
            </a:avLst>
          </a:prstGeom>
          <a:solidFill>
            <a:schemeClr val="bg2">
              <a:lumMod val="9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111111"/>
                </a:solidFill>
              </a:rPr>
              <a:t>Milvus / </a:t>
            </a:r>
            <a:br>
              <a:rPr lang="en-US" altLang="zh-CN" sz="1400" b="1" dirty="0">
                <a:solidFill>
                  <a:srgbClr val="111111"/>
                </a:solidFill>
              </a:rPr>
            </a:br>
            <a:r>
              <a:rPr lang="en-US" altLang="zh-CN" sz="1400" b="1" dirty="0" err="1">
                <a:solidFill>
                  <a:srgbClr val="111111"/>
                </a:solidFill>
              </a:rPr>
              <a:t>pgvector</a:t>
            </a:r>
            <a:endParaRPr lang="en-US" altLang="zh-CN" sz="1400" b="1" dirty="0">
              <a:solidFill>
                <a:srgbClr val="111111"/>
              </a:solidFill>
            </a:endParaRPr>
          </a:p>
          <a:p>
            <a:pPr algn="ctr"/>
            <a:r>
              <a:rPr lang="zh-CN" altLang="en-US" sz="1400" b="1" dirty="0">
                <a:solidFill>
                  <a:srgbClr val="111111"/>
                </a:solidFill>
              </a:rPr>
              <a:t>向量检索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3075507-C8BA-40C3-B0E4-2B92D8F03299}"/>
              </a:ext>
            </a:extLst>
          </p:cNvPr>
          <p:cNvSpPr>
            <a:spLocks noGrp="1"/>
          </p:cNvSpPr>
          <p:nvPr/>
        </p:nvSpPr>
        <p:spPr>
          <a:xfrm>
            <a:off x="4190951" y="5648850"/>
            <a:ext cx="130635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F2839BE-D45B-4F04-B32C-13C4141DA308}"/>
              </a:ext>
            </a:extLst>
          </p:cNvPr>
          <p:cNvSpPr>
            <a:spLocks noGrp="1"/>
          </p:cNvSpPr>
          <p:nvPr/>
        </p:nvSpPr>
        <p:spPr>
          <a:xfrm>
            <a:off x="5650486" y="5478268"/>
            <a:ext cx="1440000" cy="828000"/>
          </a:xfrm>
          <a:prstGeom prst="roundRect">
            <a:avLst>
              <a:gd name="adj" fmla="val 3226"/>
            </a:avLst>
          </a:prstGeom>
          <a:solidFill>
            <a:schemeClr val="bg2">
              <a:lumMod val="9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111111"/>
                </a:solidFill>
              </a:rPr>
              <a:t>OpenSearch /</a:t>
            </a:r>
          </a:p>
          <a:p>
            <a:pPr algn="ctr"/>
            <a:r>
              <a:rPr lang="en-US" altLang="zh-CN" sz="1400" b="1" dirty="0">
                <a:solidFill>
                  <a:srgbClr val="111111"/>
                </a:solidFill>
              </a:rPr>
              <a:t>Elasticsearch</a:t>
            </a:r>
          </a:p>
          <a:p>
            <a:pPr algn="ctr"/>
            <a:r>
              <a:rPr lang="zh-CN" altLang="en-US" sz="1400" b="1" dirty="0">
                <a:solidFill>
                  <a:srgbClr val="111111"/>
                </a:solidFill>
              </a:rPr>
              <a:t>关键词检索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8D935B7-750E-46C0-96A2-9E750DEC0D53}"/>
              </a:ext>
            </a:extLst>
          </p:cNvPr>
          <p:cNvSpPr>
            <a:spLocks noGrp="1"/>
          </p:cNvSpPr>
          <p:nvPr/>
        </p:nvSpPr>
        <p:spPr>
          <a:xfrm>
            <a:off x="7317459" y="5478267"/>
            <a:ext cx="1440000" cy="828000"/>
          </a:xfrm>
          <a:prstGeom prst="roundRect">
            <a:avLst>
              <a:gd name="adj" fmla="val 3226"/>
            </a:avLst>
          </a:prstGeom>
          <a:solidFill>
            <a:schemeClr val="bg2">
              <a:lumMod val="9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zh-CN" sz="1400" b="1" dirty="0">
                <a:solidFill>
                  <a:srgbClr val="111111"/>
                </a:solidFill>
              </a:rPr>
              <a:t>Neo4j</a:t>
            </a:r>
          </a:p>
          <a:p>
            <a:pPr algn="ctr"/>
            <a:r>
              <a:rPr lang="zh-CN" altLang="en-US" sz="1400" b="1" dirty="0">
                <a:solidFill>
                  <a:srgbClr val="111111"/>
                </a:solidFill>
              </a:rPr>
              <a:t>知识图谱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A72D2B1-E37F-4D5C-927E-464F3AA3B792}"/>
              </a:ext>
            </a:extLst>
          </p:cNvPr>
          <p:cNvSpPr>
            <a:spLocks noGrp="1"/>
          </p:cNvSpPr>
          <p:nvPr/>
        </p:nvSpPr>
        <p:spPr>
          <a:xfrm>
            <a:off x="7411353" y="5648850"/>
            <a:ext cx="11053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96837CD-028A-4A27-8174-EB06B2C1CD50}"/>
              </a:ext>
            </a:extLst>
          </p:cNvPr>
          <p:cNvSpPr>
            <a:spLocks noGrp="1"/>
          </p:cNvSpPr>
          <p:nvPr/>
        </p:nvSpPr>
        <p:spPr>
          <a:xfrm>
            <a:off x="8984431" y="5490406"/>
            <a:ext cx="1440000" cy="828000"/>
          </a:xfrm>
          <a:prstGeom prst="roundRect">
            <a:avLst>
              <a:gd name="adj" fmla="val 3226"/>
            </a:avLst>
          </a:prstGeom>
          <a:solidFill>
            <a:schemeClr val="bg2">
              <a:lumMod val="9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lang="en-US" altLang="zh-CN" sz="1400" b="1" dirty="0">
                <a:solidFill>
                  <a:srgbClr val="111111"/>
                </a:solidFill>
              </a:rPr>
              <a:t>Celery + Redis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lang="zh-CN" altLang="en-US" sz="1400" b="1" dirty="0">
                <a:solidFill>
                  <a:srgbClr val="111111"/>
                </a:solidFill>
              </a:rPr>
              <a:t>异步任务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3CFB648-FF9A-4CF5-B248-68839F996943}"/>
              </a:ext>
            </a:extLst>
          </p:cNvPr>
          <p:cNvSpPr>
            <a:spLocks noGrp="1"/>
          </p:cNvSpPr>
          <p:nvPr/>
        </p:nvSpPr>
        <p:spPr>
          <a:xfrm>
            <a:off x="8841770" y="5648850"/>
            <a:ext cx="1256107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82C2D63B-9220-4C88-52CB-1BBC7F3DCE2F}"/>
              </a:ext>
            </a:extLst>
          </p:cNvPr>
          <p:cNvSpPr>
            <a:spLocks noGrp="1"/>
          </p:cNvSpPr>
          <p:nvPr/>
        </p:nvSpPr>
        <p:spPr>
          <a:xfrm>
            <a:off x="1542551" y="1834828"/>
            <a:ext cx="9049250" cy="508290"/>
          </a:xfrm>
          <a:prstGeom prst="roundRect">
            <a:avLst>
              <a:gd name="adj" fmla="val 89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33CE134B-DC21-8CFB-3C11-95F321E2F94B}"/>
              </a:ext>
            </a:extLst>
          </p:cNvPr>
          <p:cNvSpPr>
            <a:spLocks noGrp="1"/>
          </p:cNvSpPr>
          <p:nvPr/>
        </p:nvSpPr>
        <p:spPr>
          <a:xfrm>
            <a:off x="2430252" y="1966414"/>
            <a:ext cx="1286234" cy="288000"/>
          </a:xfrm>
          <a:prstGeom prst="roundRect">
            <a:avLst>
              <a:gd name="adj" fmla="val 3226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dirty="0"/>
              <a:t>知识问答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6B50C4E8-EA57-5265-BD24-FB01356A813D}"/>
              </a:ext>
            </a:extLst>
          </p:cNvPr>
          <p:cNvSpPr>
            <a:spLocks noGrp="1"/>
          </p:cNvSpPr>
          <p:nvPr/>
        </p:nvSpPr>
        <p:spPr>
          <a:xfrm>
            <a:off x="3775795" y="1943702"/>
            <a:ext cx="1286234" cy="288000"/>
          </a:xfrm>
          <a:prstGeom prst="roundRect">
            <a:avLst>
              <a:gd name="adj" fmla="val 3226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dirty="0"/>
              <a:t>员工培训</a:t>
            </a: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197F8E7C-D566-A4C6-FF6B-AB4D2B28A1A3}"/>
              </a:ext>
            </a:extLst>
          </p:cNvPr>
          <p:cNvSpPr>
            <a:spLocks noGrp="1"/>
          </p:cNvSpPr>
          <p:nvPr/>
        </p:nvSpPr>
        <p:spPr>
          <a:xfrm>
            <a:off x="5121338" y="1943702"/>
            <a:ext cx="1286234" cy="288000"/>
          </a:xfrm>
          <a:prstGeom prst="roundRect">
            <a:avLst>
              <a:gd name="adj" fmla="val 3226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dirty="0"/>
              <a:t>制度咨询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A2BFFF71-774C-8169-B643-D43B8E0033F4}"/>
              </a:ext>
            </a:extLst>
          </p:cNvPr>
          <p:cNvSpPr>
            <a:spLocks noGrp="1"/>
          </p:cNvSpPr>
          <p:nvPr/>
        </p:nvSpPr>
        <p:spPr>
          <a:xfrm>
            <a:off x="6466881" y="1943702"/>
            <a:ext cx="1286234" cy="288000"/>
          </a:xfrm>
          <a:prstGeom prst="roundRect">
            <a:avLst>
              <a:gd name="adj" fmla="val 3226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en-US" altLang="zh-CN" sz="1400" dirty="0"/>
              <a:t>SOP </a:t>
            </a:r>
            <a:r>
              <a:rPr lang="zh-CN" altLang="en-US" sz="1400" dirty="0"/>
              <a:t>作业助手</a:t>
            </a: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65BA6678-B871-882A-AEE8-BB89EAB4290C}"/>
              </a:ext>
            </a:extLst>
          </p:cNvPr>
          <p:cNvSpPr>
            <a:spLocks noGrp="1"/>
          </p:cNvSpPr>
          <p:nvPr/>
        </p:nvSpPr>
        <p:spPr>
          <a:xfrm>
            <a:off x="7812424" y="1943702"/>
            <a:ext cx="1286234" cy="288000"/>
          </a:xfrm>
          <a:prstGeom prst="roundRect">
            <a:avLst>
              <a:gd name="adj" fmla="val 3226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dirty="0"/>
              <a:t>安全规程审查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FE62DA65-0C85-7448-A12A-D5DA932469CB}"/>
              </a:ext>
            </a:extLst>
          </p:cNvPr>
          <p:cNvSpPr>
            <a:spLocks noGrp="1"/>
          </p:cNvSpPr>
          <p:nvPr/>
        </p:nvSpPr>
        <p:spPr>
          <a:xfrm>
            <a:off x="9157968" y="1943702"/>
            <a:ext cx="1286234" cy="288000"/>
          </a:xfrm>
          <a:prstGeom prst="roundRect">
            <a:avLst>
              <a:gd name="adj" fmla="val 3226"/>
            </a:avLst>
          </a:prstGeom>
          <a:solidFill>
            <a:srgbClr val="FFF0EA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dirty="0"/>
              <a:t>故障诊断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78E9B3E3-924D-5488-3553-9E4218611780}"/>
              </a:ext>
            </a:extLst>
          </p:cNvPr>
          <p:cNvSpPr>
            <a:spLocks noGrp="1"/>
          </p:cNvSpPr>
          <p:nvPr/>
        </p:nvSpPr>
        <p:spPr>
          <a:xfrm>
            <a:off x="10691710" y="2682525"/>
            <a:ext cx="1100240" cy="285750"/>
          </a:xfrm>
          <a:prstGeom prst="roundRect">
            <a:avLst>
              <a:gd name="adj" fmla="val 6667"/>
            </a:avLst>
          </a:prstGeom>
          <a:solidFill>
            <a:srgbClr val="C00000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</a:rPr>
              <a:t>智能应用层</a:t>
            </a:r>
            <a:endParaRPr lang="zh-CN" altLang="en-US" sz="1400" dirty="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8B28DD7-B581-88B7-CCDC-6F5B6E70AFF4}"/>
              </a:ext>
            </a:extLst>
          </p:cNvPr>
          <p:cNvSpPr/>
          <p:nvPr/>
        </p:nvSpPr>
        <p:spPr>
          <a:xfrm>
            <a:off x="949411" y="1885393"/>
            <a:ext cx="378691" cy="334182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数据及用户权限体系</a:t>
            </a: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B725A609-4686-E61F-48C2-412CE0FE88F4}"/>
              </a:ext>
            </a:extLst>
          </p:cNvPr>
          <p:cNvSpPr>
            <a:spLocks noGrp="1"/>
          </p:cNvSpPr>
          <p:nvPr/>
        </p:nvSpPr>
        <p:spPr>
          <a:xfrm>
            <a:off x="10691709" y="3530244"/>
            <a:ext cx="1100241" cy="285750"/>
          </a:xfrm>
          <a:prstGeom prst="roundRect">
            <a:avLst>
              <a:gd name="adj" fmla="val 6667"/>
            </a:avLst>
          </a:prstGeom>
          <a:solidFill>
            <a:srgbClr val="C00000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</a:rPr>
              <a:t>知识治理层</a:t>
            </a:r>
            <a:endParaRPr lang="zh-CN" altLang="en-US" sz="1400" dirty="0"/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A20D3CD0-8A1D-D662-557B-AE0AB2E34F4E}"/>
              </a:ext>
            </a:extLst>
          </p:cNvPr>
          <p:cNvSpPr>
            <a:spLocks noGrp="1"/>
          </p:cNvSpPr>
          <p:nvPr/>
        </p:nvSpPr>
        <p:spPr>
          <a:xfrm>
            <a:off x="10700656" y="4663714"/>
            <a:ext cx="1153061" cy="285750"/>
          </a:xfrm>
          <a:prstGeom prst="roundRect">
            <a:avLst>
              <a:gd name="adj" fmla="val 6667"/>
            </a:avLst>
          </a:prstGeom>
          <a:solidFill>
            <a:srgbClr val="C00000"/>
          </a:solidFill>
          <a:ln w="9525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</a:rPr>
              <a:t>文档资产层</a:t>
            </a:r>
            <a:endParaRPr lang="zh-CN" altLang="en-US" sz="1400" dirty="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BB5504E-A5B8-DADA-E730-450720959509}"/>
              </a:ext>
            </a:extLst>
          </p:cNvPr>
          <p:cNvSpPr/>
          <p:nvPr/>
        </p:nvSpPr>
        <p:spPr>
          <a:xfrm>
            <a:off x="1542039" y="4346071"/>
            <a:ext cx="4160134" cy="88115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43AF638-8785-71BB-D949-FD4382870970}"/>
              </a:ext>
            </a:extLst>
          </p:cNvPr>
          <p:cNvSpPr txBox="1"/>
          <p:nvPr/>
        </p:nvSpPr>
        <p:spPr>
          <a:xfrm>
            <a:off x="1546699" y="4346071"/>
            <a:ext cx="80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文档库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F2B54C7-C49B-7293-4060-1A56583E1A24}"/>
              </a:ext>
            </a:extLst>
          </p:cNvPr>
          <p:cNvSpPr/>
          <p:nvPr/>
        </p:nvSpPr>
        <p:spPr>
          <a:xfrm>
            <a:off x="5801687" y="4354875"/>
            <a:ext cx="4791063" cy="872348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3683501E-FC65-49C7-13F4-A83A479E29CC}"/>
              </a:ext>
            </a:extLst>
          </p:cNvPr>
          <p:cNvSpPr txBox="1"/>
          <p:nvPr/>
        </p:nvSpPr>
        <p:spPr>
          <a:xfrm>
            <a:off x="5807973" y="4363389"/>
            <a:ext cx="924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文件解析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BF0D9A51-221B-4E39-A6FC-8190E02E69FB}"/>
              </a:ext>
            </a:extLst>
          </p:cNvPr>
          <p:cNvSpPr/>
          <p:nvPr/>
        </p:nvSpPr>
        <p:spPr>
          <a:xfrm>
            <a:off x="2439050" y="4449169"/>
            <a:ext cx="14400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在线预览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C3A6A2E9-25C1-FE59-1C5F-D666F508A06F}"/>
              </a:ext>
            </a:extLst>
          </p:cNvPr>
          <p:cNvSpPr/>
          <p:nvPr/>
        </p:nvSpPr>
        <p:spPr>
          <a:xfrm>
            <a:off x="3948473" y="4832852"/>
            <a:ext cx="14400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文档版本管理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4A3D9541-2DB9-5C2E-3B82-F4A9B67FE6C6}"/>
              </a:ext>
            </a:extLst>
          </p:cNvPr>
          <p:cNvSpPr/>
          <p:nvPr/>
        </p:nvSpPr>
        <p:spPr>
          <a:xfrm>
            <a:off x="2451173" y="4836341"/>
            <a:ext cx="14400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批量操作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DC23B7B-41D8-DF10-8E66-9DDF75750CF6}"/>
              </a:ext>
            </a:extLst>
          </p:cNvPr>
          <p:cNvSpPr/>
          <p:nvPr/>
        </p:nvSpPr>
        <p:spPr>
          <a:xfrm>
            <a:off x="7471339" y="4435699"/>
            <a:ext cx="144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多模态解析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0FA9486-4950-966F-1603-1FF9DD3EDFBC}"/>
              </a:ext>
            </a:extLst>
          </p:cNvPr>
          <p:cNvSpPr/>
          <p:nvPr/>
        </p:nvSpPr>
        <p:spPr>
          <a:xfrm>
            <a:off x="9004202" y="4435699"/>
            <a:ext cx="144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解析版本管理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C1C5AB38-F52E-19C4-F9F3-AFF2EFC553E4}"/>
              </a:ext>
            </a:extLst>
          </p:cNvPr>
          <p:cNvSpPr/>
          <p:nvPr/>
        </p:nvSpPr>
        <p:spPr>
          <a:xfrm>
            <a:off x="7461157" y="4834910"/>
            <a:ext cx="144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多解析器策略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4B23AF8C-D71E-BC8C-EDA6-A8DF2CC62AC8}"/>
              </a:ext>
            </a:extLst>
          </p:cNvPr>
          <p:cNvSpPr/>
          <p:nvPr/>
        </p:nvSpPr>
        <p:spPr>
          <a:xfrm>
            <a:off x="8994101" y="4834910"/>
            <a:ext cx="144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多输出类型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8C263EE2-6E54-CEF6-8D1F-73DEF6A6389C}"/>
              </a:ext>
            </a:extLst>
          </p:cNvPr>
          <p:cNvSpPr/>
          <p:nvPr/>
        </p:nvSpPr>
        <p:spPr>
          <a:xfrm>
            <a:off x="3948473" y="4446700"/>
            <a:ext cx="14400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引用分析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1C09A605-0A18-B7C4-C3E7-A01FDF56C67C}"/>
              </a:ext>
            </a:extLst>
          </p:cNvPr>
          <p:cNvSpPr/>
          <p:nvPr/>
        </p:nvSpPr>
        <p:spPr>
          <a:xfrm>
            <a:off x="5915292" y="4838647"/>
            <a:ext cx="144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异步处理</a:t>
            </a:r>
          </a:p>
        </p:txBody>
      </p:sp>
      <p:sp>
        <p:nvSpPr>
          <p:cNvPr id="160" name="箭头: 上 159">
            <a:extLst>
              <a:ext uri="{FF2B5EF4-FFF2-40B4-BE49-F238E27FC236}">
                <a16:creationId xmlns:a16="http://schemas.microsoft.com/office/drawing/2014/main" id="{20573AC9-2CE0-F7EB-C050-0BD2FD7439E2}"/>
              </a:ext>
            </a:extLst>
          </p:cNvPr>
          <p:cNvSpPr/>
          <p:nvPr/>
        </p:nvSpPr>
        <p:spPr>
          <a:xfrm>
            <a:off x="2725528" y="2361477"/>
            <a:ext cx="127865" cy="189544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箭头: 上 160">
            <a:extLst>
              <a:ext uri="{FF2B5EF4-FFF2-40B4-BE49-F238E27FC236}">
                <a16:creationId xmlns:a16="http://schemas.microsoft.com/office/drawing/2014/main" id="{650DC377-283E-1EAD-37B9-E910D8AFDD07}"/>
              </a:ext>
            </a:extLst>
          </p:cNvPr>
          <p:cNvSpPr/>
          <p:nvPr/>
        </p:nvSpPr>
        <p:spPr>
          <a:xfrm>
            <a:off x="5792578" y="2361477"/>
            <a:ext cx="127865" cy="189544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箭头: 上 161">
            <a:extLst>
              <a:ext uri="{FF2B5EF4-FFF2-40B4-BE49-F238E27FC236}">
                <a16:creationId xmlns:a16="http://schemas.microsoft.com/office/drawing/2014/main" id="{0110D2D5-DCFB-445E-2D25-6665EF5B49F9}"/>
              </a:ext>
            </a:extLst>
          </p:cNvPr>
          <p:cNvSpPr/>
          <p:nvPr/>
        </p:nvSpPr>
        <p:spPr>
          <a:xfrm>
            <a:off x="8859628" y="2361477"/>
            <a:ext cx="127865" cy="189544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F0D0C82-E270-A7B0-E0A8-06E33B91B52F}"/>
              </a:ext>
            </a:extLst>
          </p:cNvPr>
          <p:cNvSpPr/>
          <p:nvPr/>
        </p:nvSpPr>
        <p:spPr>
          <a:xfrm>
            <a:off x="1543500" y="2598727"/>
            <a:ext cx="9049250" cy="44321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C5736614-8569-D478-5DD6-505896B6E3AE}"/>
              </a:ext>
            </a:extLst>
          </p:cNvPr>
          <p:cNvSpPr/>
          <p:nvPr/>
        </p:nvSpPr>
        <p:spPr>
          <a:xfrm>
            <a:off x="5717227" y="2679748"/>
            <a:ext cx="1440000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API Key</a:t>
            </a:r>
            <a:endParaRPr lang="zh-CN" altLang="en-US" sz="1400" dirty="0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C4293B6-B4EC-37E1-0716-6A5043A0642E}"/>
              </a:ext>
            </a:extLst>
          </p:cNvPr>
          <p:cNvSpPr txBox="1"/>
          <p:nvPr/>
        </p:nvSpPr>
        <p:spPr>
          <a:xfrm>
            <a:off x="1542551" y="2670944"/>
            <a:ext cx="80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应用接口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0D30A6BD-BBAC-B533-5D8C-71F0C70150BA}"/>
              </a:ext>
            </a:extLst>
          </p:cNvPr>
          <p:cNvSpPr/>
          <p:nvPr/>
        </p:nvSpPr>
        <p:spPr>
          <a:xfrm>
            <a:off x="7360714" y="2679748"/>
            <a:ext cx="1440000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调用记录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E3D71BD-3D37-9165-F616-B3B828A78E2A}"/>
              </a:ext>
            </a:extLst>
          </p:cNvPr>
          <p:cNvSpPr/>
          <p:nvPr/>
        </p:nvSpPr>
        <p:spPr>
          <a:xfrm>
            <a:off x="9004202" y="2666199"/>
            <a:ext cx="1440000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会话管理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83D4794-0EAE-813F-F0F8-B21A55FC2093}"/>
              </a:ext>
            </a:extLst>
          </p:cNvPr>
          <p:cNvSpPr/>
          <p:nvPr/>
        </p:nvSpPr>
        <p:spPr>
          <a:xfrm>
            <a:off x="4073740" y="2678516"/>
            <a:ext cx="1440000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场景配置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B7C3C826-1EBB-0CCE-9F1F-6F04B0DC0FC9}"/>
              </a:ext>
            </a:extLst>
          </p:cNvPr>
          <p:cNvSpPr/>
          <p:nvPr/>
        </p:nvSpPr>
        <p:spPr>
          <a:xfrm>
            <a:off x="2430253" y="2670989"/>
            <a:ext cx="1440000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应用管理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F3D8A1E7-E6E4-A4CA-5D31-BC263FA48A11}"/>
              </a:ext>
            </a:extLst>
          </p:cNvPr>
          <p:cNvSpPr/>
          <p:nvPr/>
        </p:nvSpPr>
        <p:spPr>
          <a:xfrm>
            <a:off x="1542551" y="3132590"/>
            <a:ext cx="2501090" cy="115200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32896DF-657B-BED5-6C97-4F6C53F8C769}"/>
              </a:ext>
            </a:extLst>
          </p:cNvPr>
          <p:cNvSpPr txBox="1"/>
          <p:nvPr/>
        </p:nvSpPr>
        <p:spPr>
          <a:xfrm>
            <a:off x="1542551" y="3166891"/>
            <a:ext cx="80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文档分块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0AC51EE4-FD9B-E4F9-F48C-D66F2EEEF019}"/>
              </a:ext>
            </a:extLst>
          </p:cNvPr>
          <p:cNvSpPr/>
          <p:nvPr/>
        </p:nvSpPr>
        <p:spPr>
          <a:xfrm>
            <a:off x="2439051" y="3191796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分块版本管理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A39C4585-D0D0-1ABA-EC60-1EAEF390A583}"/>
              </a:ext>
            </a:extLst>
          </p:cNvPr>
          <p:cNvSpPr/>
          <p:nvPr/>
        </p:nvSpPr>
        <p:spPr>
          <a:xfrm>
            <a:off x="2439051" y="3574562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分块配置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8A0D7FB-48E3-5D72-3AED-2DBC55353F2B}"/>
              </a:ext>
            </a:extLst>
          </p:cNvPr>
          <p:cNvSpPr/>
          <p:nvPr/>
        </p:nvSpPr>
        <p:spPr>
          <a:xfrm>
            <a:off x="2439050" y="3937586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异步监控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7E4C9962-6FE5-7A31-D66A-FC48E2661D0E}"/>
              </a:ext>
            </a:extLst>
          </p:cNvPr>
          <p:cNvSpPr/>
          <p:nvPr/>
        </p:nvSpPr>
        <p:spPr>
          <a:xfrm>
            <a:off x="5002868" y="3185559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检索流程配置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0B86175F-3FA7-E647-AA2E-B20A77430025}"/>
              </a:ext>
            </a:extLst>
          </p:cNvPr>
          <p:cNvSpPr/>
          <p:nvPr/>
        </p:nvSpPr>
        <p:spPr>
          <a:xfrm>
            <a:off x="5002868" y="3549818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检索参数配置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CAECD537-F941-9C6F-8BFE-9687985A422D}"/>
              </a:ext>
            </a:extLst>
          </p:cNvPr>
          <p:cNvSpPr/>
          <p:nvPr/>
        </p:nvSpPr>
        <p:spPr>
          <a:xfrm>
            <a:off x="5002868" y="3914078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配置版本管理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AC7979DE-5C18-CB12-1FCD-935ECC68CB33}"/>
              </a:ext>
            </a:extLst>
          </p:cNvPr>
          <p:cNvSpPr/>
          <p:nvPr/>
        </p:nvSpPr>
        <p:spPr>
          <a:xfrm>
            <a:off x="9004202" y="3905543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证据引用</a:t>
            </a:r>
            <a:endParaRPr lang="en-US" altLang="zh-CN" sz="1400" dirty="0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CD776F58-6FBA-0BAF-9E4E-5213B92D7F1F}"/>
              </a:ext>
            </a:extLst>
          </p:cNvPr>
          <p:cNvSpPr/>
          <p:nvPr/>
        </p:nvSpPr>
        <p:spPr>
          <a:xfrm>
            <a:off x="8987493" y="3188469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链路追踪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AFCAAD48-0826-9E04-2F07-E2904C515B89}"/>
              </a:ext>
            </a:extLst>
          </p:cNvPr>
          <p:cNvSpPr/>
          <p:nvPr/>
        </p:nvSpPr>
        <p:spPr>
          <a:xfrm>
            <a:off x="9004202" y="3544978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观测统计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453727-94CE-9FF4-2581-164859F91CE0}"/>
              </a:ext>
            </a:extLst>
          </p:cNvPr>
          <p:cNvSpPr/>
          <p:nvPr/>
        </p:nvSpPr>
        <p:spPr>
          <a:xfrm>
            <a:off x="424512" y="1872990"/>
            <a:ext cx="378691" cy="334182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系统基础配置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4F1089-DF18-49BA-E543-DAE6FAD2F927}"/>
              </a:ext>
            </a:extLst>
          </p:cNvPr>
          <p:cNvSpPr txBox="1"/>
          <p:nvPr/>
        </p:nvSpPr>
        <p:spPr>
          <a:xfrm>
            <a:off x="4167246" y="3147382"/>
            <a:ext cx="80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检索配置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2E81A4-7649-5DE9-53F2-18CD109F0E21}"/>
              </a:ext>
            </a:extLst>
          </p:cNvPr>
          <p:cNvSpPr/>
          <p:nvPr/>
        </p:nvSpPr>
        <p:spPr>
          <a:xfrm>
            <a:off x="6543136" y="3185559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问题改写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4F9B23-B32D-02D9-8A69-29CEA6F7C641}"/>
              </a:ext>
            </a:extLst>
          </p:cNvPr>
          <p:cNvSpPr txBox="1"/>
          <p:nvPr/>
        </p:nvSpPr>
        <p:spPr>
          <a:xfrm>
            <a:off x="8139583" y="3137520"/>
            <a:ext cx="80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在线调试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738A83-AE6C-DC1C-BFCA-C66E11D4BE80}"/>
              </a:ext>
            </a:extLst>
          </p:cNvPr>
          <p:cNvSpPr/>
          <p:nvPr/>
        </p:nvSpPr>
        <p:spPr>
          <a:xfrm>
            <a:off x="6543136" y="3546182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多路召回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1CA7EF-CC8D-FCCC-53F2-0FA688CB7FD2}"/>
              </a:ext>
            </a:extLst>
          </p:cNvPr>
          <p:cNvSpPr/>
          <p:nvPr/>
        </p:nvSpPr>
        <p:spPr>
          <a:xfrm>
            <a:off x="6543136" y="3906806"/>
            <a:ext cx="1440000" cy="276999"/>
          </a:xfrm>
          <a:prstGeom prst="rect">
            <a:avLst/>
          </a:prstGeom>
          <a:solidFill>
            <a:srgbClr val="EBF01C">
              <a:alpha val="74902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融合重排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1949AA-F2B0-75B5-1A32-8EA5BC4A6C8C}"/>
              </a:ext>
            </a:extLst>
          </p:cNvPr>
          <p:cNvSpPr txBox="1"/>
          <p:nvPr/>
        </p:nvSpPr>
        <p:spPr>
          <a:xfrm>
            <a:off x="1542551" y="1953779"/>
            <a:ext cx="80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场景应用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99247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3E14-B10B-76BB-CC7E-A982BCD4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01DDB2B-9727-52EB-49BB-04972C792073}"/>
              </a:ext>
            </a:extLst>
          </p:cNvPr>
          <p:cNvSpPr>
            <a:spLocks noGrp="1"/>
          </p:cNvSpPr>
          <p:nvPr/>
        </p:nvSpPr>
        <p:spPr>
          <a:xfrm>
            <a:off x="248660" y="5218256"/>
            <a:ext cx="11694680" cy="1239694"/>
          </a:xfrm>
          <a:prstGeom prst="roundRect">
            <a:avLst>
              <a:gd name="adj" fmla="val 8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840DFC-E6D7-E5DE-FD4B-467DB0A1AB4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r>
              <a:rPr lang="en-US" altLang="zh-CN" sz="1350" b="1" dirty="0">
                <a:solidFill>
                  <a:srgbClr val="646464"/>
                </a:solidFill>
              </a:rPr>
              <a:t>RAG-Lab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3ECC81-06E4-CF02-996B-981E1585273F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55555"/>
                </a:solidFill>
              </a:defRPr>
            </a:pPr>
            <a:r>
              <a:rPr lang="en-US" altLang="zh-CN" sz="1050" b="1" dirty="0">
                <a:solidFill>
                  <a:srgbClr val="646464"/>
                </a:solidFill>
              </a:rPr>
              <a:t>02</a:t>
            </a:r>
            <a:endParaRPr sz="1050" b="1" dirty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FAC932-8346-665C-E6D6-36CC280811E5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1019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lang="zh-CN" altLang="en-US" sz="2800" b="1" dirty="0">
                <a:solidFill>
                  <a:srgbClr val="C00000"/>
                </a:solidFill>
              </a:rPr>
              <a:t>三层架构，把企业文档转化为可调用的 </a:t>
            </a:r>
            <a:r>
              <a:rPr lang="en-US" altLang="zh-CN" sz="2800" b="1" dirty="0">
                <a:solidFill>
                  <a:srgbClr val="C00000"/>
                </a:solidFill>
              </a:rPr>
              <a:t>AI </a:t>
            </a:r>
            <a:r>
              <a:rPr lang="zh-CN" altLang="en-US" sz="2800" b="1" dirty="0">
                <a:solidFill>
                  <a:srgbClr val="C00000"/>
                </a:solidFill>
              </a:rPr>
              <a:t>应用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F016A8-435D-25FB-B2FF-F2B5750C8DC9}"/>
              </a:ext>
            </a:extLst>
          </p:cNvPr>
          <p:cNvSpPr>
            <a:spLocks noGrp="1"/>
          </p:cNvSpPr>
          <p:nvPr/>
        </p:nvSpPr>
        <p:spPr>
          <a:xfrm>
            <a:off x="419100" y="1343025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zh-CN" altLang="en-US" sz="1350" b="0" dirty="0">
                <a:solidFill>
                  <a:srgbClr val="555555"/>
                </a:solidFill>
              </a:rPr>
              <a:t>底层统一管理知识资产，中间完成治理与增强，上层快速封装为业务助手和外部应用能力。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E7C7E11-3155-0FFD-5116-33574127D67A}"/>
              </a:ext>
            </a:extLst>
          </p:cNvPr>
          <p:cNvSpPr>
            <a:spLocks noGrp="1"/>
          </p:cNvSpPr>
          <p:nvPr/>
        </p:nvSpPr>
        <p:spPr>
          <a:xfrm>
            <a:off x="9871652" y="5695228"/>
            <a:ext cx="1809750" cy="28575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r>
              <a:rPr lang="zh-CN" altLang="en-US" sz="1400" b="1" dirty="0">
                <a:solidFill>
                  <a:srgbClr val="FFFFFF"/>
                </a:solidFill>
              </a:rPr>
              <a:t>底层技术与服务组件</a:t>
            </a:r>
            <a:endParaRPr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92D9942-C6C4-2E05-4FA1-AF6CA2D9D74D}"/>
              </a:ext>
            </a:extLst>
          </p:cNvPr>
          <p:cNvSpPr>
            <a:spLocks noGrp="1"/>
          </p:cNvSpPr>
          <p:nvPr/>
        </p:nvSpPr>
        <p:spPr>
          <a:xfrm>
            <a:off x="552450" y="48291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88EE49D-723B-B0A8-69EA-4143C0E5C78B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1381125" cy="7810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PostgreSQL / MySQL</a:t>
            </a: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主数据真值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63A75A6-693E-6948-99B7-74DBA657BF23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1190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E604E4C-518D-A1E9-EBD7-F6EB6EDCDC00}"/>
              </a:ext>
            </a:extLst>
          </p:cNvPr>
          <p:cNvSpPr>
            <a:spLocks noGrp="1"/>
          </p:cNvSpPr>
          <p:nvPr/>
        </p:nvSpPr>
        <p:spPr>
          <a:xfrm>
            <a:off x="2038350" y="5429250"/>
            <a:ext cx="1238250" cy="7810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>
                <a:solidFill>
                  <a:srgbClr val="111111"/>
                </a:solidFill>
              </a:rPr>
              <a:t>MinIO</a:t>
            </a:r>
          </a:p>
          <a:p>
            <a:pPr algn="ctr"/>
            <a:r>
              <a:rPr lang="zh-CN" altLang="en-US" sz="1200" b="1">
                <a:solidFill>
                  <a:srgbClr val="111111"/>
                </a:solidFill>
              </a:rPr>
              <a:t>对象存储</a:t>
            </a:r>
            <a:endParaRPr lang="zh-CN" altLang="en-US" sz="1200" b="1" dirty="0">
              <a:solidFill>
                <a:srgbClr val="11111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99AF4E1-95C0-2994-903E-A1A9A6792EC3}"/>
              </a:ext>
            </a:extLst>
          </p:cNvPr>
          <p:cNvSpPr>
            <a:spLocks noGrp="1"/>
          </p:cNvSpPr>
          <p:nvPr/>
        </p:nvSpPr>
        <p:spPr>
          <a:xfrm>
            <a:off x="2133600" y="5524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E8A7ABC-91D5-4115-BFE1-25425E97EFBA}"/>
              </a:ext>
            </a:extLst>
          </p:cNvPr>
          <p:cNvSpPr>
            <a:spLocks noGrp="1"/>
          </p:cNvSpPr>
          <p:nvPr/>
        </p:nvSpPr>
        <p:spPr>
          <a:xfrm>
            <a:off x="3476625" y="5429249"/>
            <a:ext cx="1428750" cy="781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Milvus / </a:t>
            </a:r>
            <a:br>
              <a:rPr lang="en-US" altLang="zh-CN" sz="1200" b="1" dirty="0">
                <a:solidFill>
                  <a:srgbClr val="111111"/>
                </a:solidFill>
              </a:rPr>
            </a:br>
            <a:r>
              <a:rPr lang="en-US" altLang="zh-CN" sz="1200" b="1" dirty="0" err="1">
                <a:solidFill>
                  <a:srgbClr val="111111"/>
                </a:solidFill>
              </a:rPr>
              <a:t>pgvector</a:t>
            </a:r>
            <a:endParaRPr lang="en-US" altLang="zh-CN" sz="1200" b="1" dirty="0">
              <a:solidFill>
                <a:srgbClr val="111111"/>
              </a:solidFill>
            </a:endParaRP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向量检索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5F9A19B-9D1A-A19F-D628-BDB0888EE1CA}"/>
              </a:ext>
            </a:extLst>
          </p:cNvPr>
          <p:cNvSpPr>
            <a:spLocks noGrp="1"/>
          </p:cNvSpPr>
          <p:nvPr/>
        </p:nvSpPr>
        <p:spPr>
          <a:xfrm>
            <a:off x="3571875" y="55245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72259FD-3D35-ADA4-E391-2CF29A48A2D9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1381125" cy="7810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OpenSearch /</a:t>
            </a:r>
          </a:p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Elasticsearch</a:t>
            </a: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关键词检索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189B563-243F-CE3D-A779-D008F02598B3}"/>
              </a:ext>
            </a:extLst>
          </p:cNvPr>
          <p:cNvSpPr>
            <a:spLocks noGrp="1"/>
          </p:cNvSpPr>
          <p:nvPr/>
        </p:nvSpPr>
        <p:spPr>
          <a:xfrm>
            <a:off x="6686550" y="5429249"/>
            <a:ext cx="1238250" cy="79057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Neo4j</a:t>
            </a: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知识图谱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6984A9C-4529-DDA3-4C37-9DCB3B7485C2}"/>
              </a:ext>
            </a:extLst>
          </p:cNvPr>
          <p:cNvSpPr>
            <a:spLocks noGrp="1"/>
          </p:cNvSpPr>
          <p:nvPr/>
        </p:nvSpPr>
        <p:spPr>
          <a:xfrm>
            <a:off x="6781800" y="55245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21AA2454-B49B-993E-790D-EFDCFACD7C8F}"/>
              </a:ext>
            </a:extLst>
          </p:cNvPr>
          <p:cNvSpPr>
            <a:spLocks noGrp="1"/>
          </p:cNvSpPr>
          <p:nvPr/>
        </p:nvSpPr>
        <p:spPr>
          <a:xfrm>
            <a:off x="8124825" y="5429250"/>
            <a:ext cx="1381125" cy="7810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lang="en-US" altLang="zh-CN" b="1" dirty="0">
                <a:solidFill>
                  <a:srgbClr val="111111"/>
                </a:solidFill>
              </a:rPr>
              <a:t>Celery + Redis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lang="zh-CN" altLang="en-US" b="1" dirty="0">
                <a:solidFill>
                  <a:srgbClr val="111111"/>
                </a:solidFill>
              </a:rPr>
              <a:t>异步任务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631E282-38A6-56E2-19E7-8343F08B7918}"/>
              </a:ext>
            </a:extLst>
          </p:cNvPr>
          <p:cNvSpPr>
            <a:spLocks noGrp="1"/>
          </p:cNvSpPr>
          <p:nvPr/>
        </p:nvSpPr>
        <p:spPr>
          <a:xfrm>
            <a:off x="8220075" y="5524500"/>
            <a:ext cx="1190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2D8E37E-41EB-0A56-BF33-7CDBECB45B58}"/>
              </a:ext>
            </a:extLst>
          </p:cNvPr>
          <p:cNvSpPr/>
          <p:nvPr/>
        </p:nvSpPr>
        <p:spPr>
          <a:xfrm>
            <a:off x="552450" y="1831686"/>
            <a:ext cx="2274455" cy="3073689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975256B-4E03-BE5D-AA3F-F96A50F3B663}"/>
              </a:ext>
            </a:extLst>
          </p:cNvPr>
          <p:cNvSpPr txBox="1"/>
          <p:nvPr/>
        </p:nvSpPr>
        <p:spPr>
          <a:xfrm>
            <a:off x="984106" y="1866897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</a:rPr>
              <a:t>01 </a:t>
            </a:r>
            <a:r>
              <a:rPr lang="zh-CN" altLang="zh-CN" sz="1400" dirty="0">
                <a:solidFill>
                  <a:srgbClr val="C00000"/>
                </a:solidFill>
              </a:rPr>
              <a:t>文档资产层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538BA47-B2A7-CD47-F911-C3AF55B7D69F}"/>
              </a:ext>
            </a:extLst>
          </p:cNvPr>
          <p:cNvSpPr/>
          <p:nvPr/>
        </p:nvSpPr>
        <p:spPr>
          <a:xfrm>
            <a:off x="661555" y="2586004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PDF</a:t>
            </a:r>
            <a:endParaRPr lang="zh-CN" altLang="en-US" sz="1400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5B43BDA-1154-8A32-1F4C-45A7EEB92FA0}"/>
              </a:ext>
            </a:extLst>
          </p:cNvPr>
          <p:cNvSpPr/>
          <p:nvPr/>
        </p:nvSpPr>
        <p:spPr>
          <a:xfrm>
            <a:off x="1112368" y="2586004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doc</a:t>
            </a:r>
            <a:endParaRPr lang="zh-CN" altLang="en-US" sz="1400" dirty="0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2EFBDA3F-5CB1-ADE1-1654-4D370692FAC8}"/>
              </a:ext>
            </a:extLst>
          </p:cNvPr>
          <p:cNvSpPr/>
          <p:nvPr/>
        </p:nvSpPr>
        <p:spPr>
          <a:xfrm>
            <a:off x="1547274" y="2586004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照片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9BBC043-A879-CE92-27F2-3D31ADEF81ED}"/>
              </a:ext>
            </a:extLst>
          </p:cNvPr>
          <p:cNvSpPr/>
          <p:nvPr/>
        </p:nvSpPr>
        <p:spPr>
          <a:xfrm>
            <a:off x="1982180" y="2586004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流程图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E8614595-A882-B231-B0EE-5C62009F4DE1}"/>
              </a:ext>
            </a:extLst>
          </p:cNvPr>
          <p:cNvSpPr/>
          <p:nvPr/>
        </p:nvSpPr>
        <p:spPr>
          <a:xfrm>
            <a:off x="2417086" y="2587270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/>
              <a:t>发票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87B70712-18DF-75FB-FCA1-A93244480E53}"/>
              </a:ext>
            </a:extLst>
          </p:cNvPr>
          <p:cNvSpPr/>
          <p:nvPr/>
        </p:nvSpPr>
        <p:spPr>
          <a:xfrm>
            <a:off x="651251" y="3790871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解析</a:t>
            </a:r>
            <a:endParaRPr lang="zh-CN" altLang="en-US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33E658A-752A-E16C-9C11-5273932FE80B}"/>
              </a:ext>
            </a:extLst>
          </p:cNvPr>
          <p:cNvSpPr/>
          <p:nvPr/>
        </p:nvSpPr>
        <p:spPr>
          <a:xfrm>
            <a:off x="651251" y="4180488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权限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07D4DD5-5DCC-4DE8-7484-B4A7D30A1A03}"/>
              </a:ext>
            </a:extLst>
          </p:cNvPr>
          <p:cNvSpPr/>
          <p:nvPr/>
        </p:nvSpPr>
        <p:spPr>
          <a:xfrm>
            <a:off x="661555" y="3401254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版本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A159514-D158-31EF-311D-273BDE39F5FD}"/>
              </a:ext>
            </a:extLst>
          </p:cNvPr>
          <p:cNvSpPr>
            <a:spLocks noGrp="1"/>
          </p:cNvSpPr>
          <p:nvPr/>
        </p:nvSpPr>
        <p:spPr>
          <a:xfrm>
            <a:off x="3968172" y="4837256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1842BB0B-BD1F-6FD1-9228-71CC81550146}"/>
              </a:ext>
            </a:extLst>
          </p:cNvPr>
          <p:cNvSpPr/>
          <p:nvPr/>
        </p:nvSpPr>
        <p:spPr>
          <a:xfrm>
            <a:off x="3968172" y="1839767"/>
            <a:ext cx="2274455" cy="3073689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442D054-8793-270A-F960-6FA504301094}"/>
              </a:ext>
            </a:extLst>
          </p:cNvPr>
          <p:cNvSpPr txBox="1"/>
          <p:nvPr/>
        </p:nvSpPr>
        <p:spPr>
          <a:xfrm>
            <a:off x="4399828" y="1874978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</a:rPr>
              <a:t>02 </a:t>
            </a:r>
            <a:r>
              <a:rPr lang="zh-CN" altLang="en-US" sz="1400" dirty="0">
                <a:solidFill>
                  <a:srgbClr val="C00000"/>
                </a:solidFill>
              </a:rPr>
              <a:t>知识治理</a:t>
            </a:r>
            <a:r>
              <a:rPr lang="zh-CN" altLang="zh-CN" sz="1400" dirty="0">
                <a:solidFill>
                  <a:srgbClr val="C00000"/>
                </a:solidFill>
              </a:rPr>
              <a:t>层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C350A6B5-DC86-F423-C7FA-9BAE4EC3720A}"/>
              </a:ext>
            </a:extLst>
          </p:cNvPr>
          <p:cNvSpPr/>
          <p:nvPr/>
        </p:nvSpPr>
        <p:spPr>
          <a:xfrm>
            <a:off x="4077277" y="2594085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PDF</a:t>
            </a:r>
            <a:endParaRPr lang="zh-CN" altLang="en-US" sz="1400" dirty="0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C1D272A-8E5A-FA05-787F-40728FFBDDC3}"/>
              </a:ext>
            </a:extLst>
          </p:cNvPr>
          <p:cNvSpPr/>
          <p:nvPr/>
        </p:nvSpPr>
        <p:spPr>
          <a:xfrm>
            <a:off x="4528090" y="2594085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doc</a:t>
            </a:r>
            <a:endParaRPr lang="zh-CN" altLang="en-US" sz="1400" dirty="0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95E4F23A-FECE-C4AF-A105-6E47477F3772}"/>
              </a:ext>
            </a:extLst>
          </p:cNvPr>
          <p:cNvSpPr/>
          <p:nvPr/>
        </p:nvSpPr>
        <p:spPr>
          <a:xfrm>
            <a:off x="4962996" y="2594085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照片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F8569CB-232C-229D-C294-D334D1B070EB}"/>
              </a:ext>
            </a:extLst>
          </p:cNvPr>
          <p:cNvSpPr/>
          <p:nvPr/>
        </p:nvSpPr>
        <p:spPr>
          <a:xfrm>
            <a:off x="5397902" y="2594085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流程图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5352866F-21FE-28EA-8835-451C602C5D63}"/>
              </a:ext>
            </a:extLst>
          </p:cNvPr>
          <p:cNvSpPr/>
          <p:nvPr/>
        </p:nvSpPr>
        <p:spPr>
          <a:xfrm>
            <a:off x="5832808" y="2595351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/>
              <a:t>发票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B8158076-76F9-478F-81FB-C63197F4463D}"/>
              </a:ext>
            </a:extLst>
          </p:cNvPr>
          <p:cNvSpPr/>
          <p:nvPr/>
        </p:nvSpPr>
        <p:spPr>
          <a:xfrm>
            <a:off x="4066973" y="3798952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解析</a:t>
            </a:r>
            <a:endParaRPr lang="zh-CN" altLang="en-US" dirty="0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481DE0C7-FE71-955F-879B-036D00584BCE}"/>
              </a:ext>
            </a:extLst>
          </p:cNvPr>
          <p:cNvSpPr/>
          <p:nvPr/>
        </p:nvSpPr>
        <p:spPr>
          <a:xfrm>
            <a:off x="4066973" y="4188569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权限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A1A0638A-9D7B-7125-1CCF-9F0C1F419327}"/>
              </a:ext>
            </a:extLst>
          </p:cNvPr>
          <p:cNvSpPr/>
          <p:nvPr/>
        </p:nvSpPr>
        <p:spPr>
          <a:xfrm>
            <a:off x="4077277" y="3409335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版本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E1857FD4-4CCF-3910-B9FA-39B5FCD17C46}"/>
              </a:ext>
            </a:extLst>
          </p:cNvPr>
          <p:cNvSpPr>
            <a:spLocks noGrp="1"/>
          </p:cNvSpPr>
          <p:nvPr/>
        </p:nvSpPr>
        <p:spPr>
          <a:xfrm>
            <a:off x="7197159" y="4829174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A6B5F71-8037-505E-2B78-718FEDF046A3}"/>
              </a:ext>
            </a:extLst>
          </p:cNvPr>
          <p:cNvSpPr/>
          <p:nvPr/>
        </p:nvSpPr>
        <p:spPr>
          <a:xfrm>
            <a:off x="7197159" y="1831685"/>
            <a:ext cx="2274455" cy="3073689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B108957-F917-BDCC-5A4C-584B77C1C99D}"/>
              </a:ext>
            </a:extLst>
          </p:cNvPr>
          <p:cNvSpPr txBox="1"/>
          <p:nvPr/>
        </p:nvSpPr>
        <p:spPr>
          <a:xfrm>
            <a:off x="7628815" y="1866896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</a:rPr>
              <a:t>03 </a:t>
            </a:r>
            <a:r>
              <a:rPr lang="zh-CN" altLang="en-US" sz="1400" dirty="0">
                <a:solidFill>
                  <a:srgbClr val="C00000"/>
                </a:solidFill>
              </a:rPr>
              <a:t>应用服务</a:t>
            </a:r>
            <a:r>
              <a:rPr lang="zh-CN" altLang="zh-CN" sz="1400" dirty="0">
                <a:solidFill>
                  <a:srgbClr val="C00000"/>
                </a:solidFill>
              </a:rPr>
              <a:t>层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D778F96-58EC-AD60-4464-641FB8608490}"/>
              </a:ext>
            </a:extLst>
          </p:cNvPr>
          <p:cNvSpPr/>
          <p:nvPr/>
        </p:nvSpPr>
        <p:spPr>
          <a:xfrm>
            <a:off x="7306264" y="2586003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PDF</a:t>
            </a:r>
            <a:endParaRPr lang="zh-CN" altLang="en-US" sz="1400" dirty="0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3318C4B3-1A48-FC74-5815-E8F63AD4B1A6}"/>
              </a:ext>
            </a:extLst>
          </p:cNvPr>
          <p:cNvSpPr/>
          <p:nvPr/>
        </p:nvSpPr>
        <p:spPr>
          <a:xfrm>
            <a:off x="7757077" y="2586003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doc</a:t>
            </a:r>
            <a:endParaRPr lang="zh-CN" altLang="en-US" sz="1400" dirty="0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778B8DF4-E5E3-E3A3-709F-1A358C963D92}"/>
              </a:ext>
            </a:extLst>
          </p:cNvPr>
          <p:cNvSpPr/>
          <p:nvPr/>
        </p:nvSpPr>
        <p:spPr>
          <a:xfrm>
            <a:off x="8191983" y="2586003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照片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1AF65AC-CDB7-E463-291F-885363B50F52}"/>
              </a:ext>
            </a:extLst>
          </p:cNvPr>
          <p:cNvSpPr/>
          <p:nvPr/>
        </p:nvSpPr>
        <p:spPr>
          <a:xfrm>
            <a:off x="8626889" y="2586003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流程图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56F8E114-70A8-4A20-878D-8200C345B4B7}"/>
              </a:ext>
            </a:extLst>
          </p:cNvPr>
          <p:cNvSpPr/>
          <p:nvPr/>
        </p:nvSpPr>
        <p:spPr>
          <a:xfrm>
            <a:off x="9061795" y="2587269"/>
            <a:ext cx="360000" cy="72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/>
              <a:t>发票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78A286B1-51EB-D036-BDE8-F356BA0C2291}"/>
              </a:ext>
            </a:extLst>
          </p:cNvPr>
          <p:cNvSpPr/>
          <p:nvPr/>
        </p:nvSpPr>
        <p:spPr>
          <a:xfrm>
            <a:off x="7295960" y="3790870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解析</a:t>
            </a:r>
            <a:endParaRPr lang="zh-CN" altLang="en-US" dirty="0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3C37D9E7-35C3-7F43-5D04-68B0D6CE16D4}"/>
              </a:ext>
            </a:extLst>
          </p:cNvPr>
          <p:cNvSpPr/>
          <p:nvPr/>
        </p:nvSpPr>
        <p:spPr>
          <a:xfrm>
            <a:off x="7295960" y="4180487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权限</a:t>
            </a: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428CD495-924D-C59B-1341-76E7528A8909}"/>
              </a:ext>
            </a:extLst>
          </p:cNvPr>
          <p:cNvSpPr/>
          <p:nvPr/>
        </p:nvSpPr>
        <p:spPr>
          <a:xfrm>
            <a:off x="7306264" y="3401253"/>
            <a:ext cx="2115530" cy="3602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版本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C3CF883-BEED-FC2F-1791-922B1CA953AC}"/>
              </a:ext>
            </a:extLst>
          </p:cNvPr>
          <p:cNvSpPr txBox="1"/>
          <p:nvPr/>
        </p:nvSpPr>
        <p:spPr>
          <a:xfrm>
            <a:off x="1004357" y="2145964"/>
            <a:ext cx="1377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100" b="1" dirty="0">
                <a:solidFill>
                  <a:srgbClr val="646464"/>
                </a:solidFill>
              </a:rPr>
              <a:t>企业原始知识入口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5A805DE-C9DD-BA86-B023-BF9C7DED3EC1}"/>
              </a:ext>
            </a:extLst>
          </p:cNvPr>
          <p:cNvSpPr txBox="1"/>
          <p:nvPr/>
        </p:nvSpPr>
        <p:spPr>
          <a:xfrm>
            <a:off x="4183666" y="2154045"/>
            <a:ext cx="1865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646464"/>
                </a:solidFill>
              </a:rPr>
              <a:t>以知识库组织和治理知识</a:t>
            </a:r>
            <a:endParaRPr lang="zh-CN" altLang="zh-CN" sz="1100" b="1" dirty="0">
              <a:solidFill>
                <a:srgbClr val="646464"/>
              </a:solidFill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1BD03D2-2C83-A38C-21BF-6B70EC66670A}"/>
              </a:ext>
            </a:extLst>
          </p:cNvPr>
          <p:cNvSpPr txBox="1"/>
          <p:nvPr/>
        </p:nvSpPr>
        <p:spPr>
          <a:xfrm>
            <a:off x="7401831" y="2150091"/>
            <a:ext cx="1865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646464"/>
                </a:solidFill>
              </a:rPr>
              <a:t>将知识封装为业务助手</a:t>
            </a:r>
            <a:endParaRPr lang="zh-CN" altLang="zh-CN" sz="1100" b="1" dirty="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22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1A51-B86C-3D25-6A2A-95C6D3B2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141250F-A1AA-9C74-0C7A-4E7E6DA9856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r>
              <a:rPr lang="en-US" altLang="zh-CN" sz="1350" b="1" dirty="0">
                <a:solidFill>
                  <a:srgbClr val="646464"/>
                </a:solidFill>
              </a:rPr>
              <a:t>RAG-Lab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2FCFBC-4861-6138-2FEE-14809AB3581D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55555"/>
                </a:solidFill>
              </a:defRPr>
            </a:pPr>
            <a:r>
              <a:rPr lang="en-US" altLang="zh-CN" sz="1050" b="1" dirty="0">
                <a:solidFill>
                  <a:srgbClr val="646464"/>
                </a:solidFill>
              </a:rPr>
              <a:t>02</a:t>
            </a:r>
            <a:endParaRPr sz="1050" b="1" dirty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AC85A6-1739-2E71-7C1F-2DFDCCE7846F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1019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</a:defRPr>
            </a:pPr>
            <a:r>
              <a:rPr lang="zh-CN" altLang="en-US" sz="2800" b="1" dirty="0">
                <a:solidFill>
                  <a:srgbClr val="C00000"/>
                </a:solidFill>
              </a:rPr>
              <a:t>三层架构，把企业文档转化为可调用的 </a:t>
            </a:r>
            <a:r>
              <a:rPr lang="en-US" altLang="zh-CN" sz="2800" b="1" dirty="0">
                <a:solidFill>
                  <a:srgbClr val="C00000"/>
                </a:solidFill>
              </a:rPr>
              <a:t>AI </a:t>
            </a:r>
            <a:r>
              <a:rPr lang="zh-CN" altLang="en-US" sz="2800" b="1" dirty="0">
                <a:solidFill>
                  <a:srgbClr val="C00000"/>
                </a:solidFill>
              </a:rPr>
              <a:t>应用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DB60DE-B8A3-F574-C788-3B64E7623D5A}"/>
              </a:ext>
            </a:extLst>
          </p:cNvPr>
          <p:cNvSpPr>
            <a:spLocks noGrp="1"/>
          </p:cNvSpPr>
          <p:nvPr/>
        </p:nvSpPr>
        <p:spPr>
          <a:xfrm>
            <a:off x="419100" y="1343025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zh-CN" altLang="en-US" sz="1350" b="0" dirty="0">
                <a:solidFill>
                  <a:srgbClr val="555555"/>
                </a:solidFill>
              </a:rPr>
              <a:t>底层统一管理知识资产，中间完成治理与增强，上层快速封装为业务助手和外部应用能力。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93DCF1-1E92-6264-DA57-5495CCE8CF0A}"/>
              </a:ext>
            </a:extLst>
          </p:cNvPr>
          <p:cNvSpPr>
            <a:spLocks noGrp="1"/>
          </p:cNvSpPr>
          <p:nvPr/>
        </p:nvSpPr>
        <p:spPr>
          <a:xfrm>
            <a:off x="457200" y="2038350"/>
            <a:ext cx="1238250" cy="590550"/>
          </a:xfrm>
          <a:prstGeom prst="roundRect">
            <a:avLst>
              <a:gd name="adj" fmla="val 3226"/>
            </a:avLst>
          </a:prstGeom>
          <a:solidFill>
            <a:srgbClr val="F4F4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28B93F-E1B0-B186-0007-550A5023227C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 err="1">
                <a:solidFill>
                  <a:srgbClr val="111111"/>
                </a:solidFill>
              </a:rPr>
              <a:t>平台用户</a:t>
            </a:r>
            <a:endParaRPr sz="1200" b="1" dirty="0">
              <a:solidFill>
                <a:srgbClr val="111111"/>
              </a:solidFill>
            </a:endParaRP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 err="1">
                <a:solidFill>
                  <a:srgbClr val="111111"/>
                </a:solidFill>
              </a:rPr>
              <a:t>业务系统</a:t>
            </a: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A526FAA-DDE5-168B-A9BC-CCD88A50EE90}"/>
              </a:ext>
            </a:extLst>
          </p:cNvPr>
          <p:cNvSpPr>
            <a:spLocks noGrp="1"/>
          </p:cNvSpPr>
          <p:nvPr/>
        </p:nvSpPr>
        <p:spPr>
          <a:xfrm>
            <a:off x="2095500" y="1952625"/>
            <a:ext cx="1714500" cy="762000"/>
          </a:xfrm>
          <a:prstGeom prst="roundRect">
            <a:avLst>
              <a:gd name="adj" fmla="val 2500"/>
            </a:avLst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9A0E0D-C387-8B87-1CB2-2657E1034FE1}"/>
              </a:ext>
            </a:extLst>
          </p:cNvPr>
          <p:cNvSpPr>
            <a:spLocks noGrp="1"/>
          </p:cNvSpPr>
          <p:nvPr/>
        </p:nvSpPr>
        <p:spPr>
          <a:xfrm>
            <a:off x="2190750" y="2047875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>
                <a:solidFill>
                  <a:srgbClr val="111111"/>
                </a:solidFill>
              </a:rPr>
              <a:t>Web </a:t>
            </a:r>
            <a:r>
              <a:rPr sz="1200" b="1" dirty="0" err="1">
                <a:solidFill>
                  <a:srgbClr val="111111"/>
                </a:solidFill>
              </a:rPr>
              <a:t>管理工作台</a:t>
            </a:r>
            <a:endParaRPr sz="1200" b="1" dirty="0">
              <a:solidFill>
                <a:srgbClr val="111111"/>
              </a:solidFill>
            </a:endParaRP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>
                <a:solidFill>
                  <a:srgbClr val="111111"/>
                </a:solidFill>
              </a:rPr>
              <a:t>RAG App Runtime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02AFD32-06FA-9A5C-2665-8EA7162CA067}"/>
              </a:ext>
            </a:extLst>
          </p:cNvPr>
          <p:cNvSpPr>
            <a:spLocks noGrp="1"/>
          </p:cNvSpPr>
          <p:nvPr/>
        </p:nvSpPr>
        <p:spPr>
          <a:xfrm>
            <a:off x="4267200" y="1952625"/>
            <a:ext cx="1905000" cy="76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7771FA-BBEF-76A5-D106-1D1917CCB691}"/>
              </a:ext>
            </a:extLst>
          </p:cNvPr>
          <p:cNvSpPr>
            <a:spLocks noGrp="1"/>
          </p:cNvSpPr>
          <p:nvPr/>
        </p:nvSpPr>
        <p:spPr>
          <a:xfrm>
            <a:off x="4362450" y="2047875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 err="1">
                <a:solidFill>
                  <a:srgbClr val="111111"/>
                </a:solidFill>
              </a:rPr>
              <a:t>FastAPI</a:t>
            </a:r>
            <a:r>
              <a:rPr sz="1200" b="1" dirty="0">
                <a:solidFill>
                  <a:srgbClr val="111111"/>
                </a:solidFill>
              </a:rPr>
              <a:t> </a:t>
            </a:r>
            <a:r>
              <a:rPr sz="1200" b="1" dirty="0" err="1">
                <a:solidFill>
                  <a:srgbClr val="111111"/>
                </a:solidFill>
              </a:rPr>
              <a:t>后端服务</a:t>
            </a:r>
            <a:endParaRPr sz="1200" b="1" dirty="0">
              <a:solidFill>
                <a:srgbClr val="111111"/>
              </a:solidFill>
            </a:endParaRP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 err="1">
                <a:solidFill>
                  <a:srgbClr val="111111"/>
                </a:solidFill>
              </a:rPr>
              <a:t>统一鉴权</a:t>
            </a:r>
            <a:r>
              <a:rPr sz="1200" b="1" dirty="0">
                <a:solidFill>
                  <a:srgbClr val="111111"/>
                </a:solidFill>
              </a:rPr>
              <a:t> / API </a:t>
            </a:r>
            <a:r>
              <a:rPr sz="1200" b="1" dirty="0" err="1">
                <a:solidFill>
                  <a:srgbClr val="111111"/>
                </a:solidFill>
              </a:rPr>
              <a:t>编排</a:t>
            </a: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7091412-E76F-8ED6-15D7-E239F2B7A959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2381250" cy="762000"/>
          </a:xfrm>
          <a:prstGeom prst="roundRect">
            <a:avLst>
              <a:gd name="adj" fmla="val 2500"/>
            </a:avLst>
          </a:prstGeom>
          <a:solidFill>
            <a:srgbClr val="F4F4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852DD3-AD33-909B-10B4-6B485A4E68DB}"/>
              </a:ext>
            </a:extLst>
          </p:cNvPr>
          <p:cNvSpPr>
            <a:spLocks noGrp="1"/>
          </p:cNvSpPr>
          <p:nvPr/>
        </p:nvSpPr>
        <p:spPr>
          <a:xfrm>
            <a:off x="6762750" y="204787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知识库 · 文档 · 配置 · QA 历史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RAG 应用封装 · 成员与权限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4675EB1-E0BD-BE60-9D30-B9B1F6087538}"/>
              </a:ext>
            </a:extLst>
          </p:cNvPr>
          <p:cNvSpPr>
            <a:spLocks noGrp="1"/>
          </p:cNvSpPr>
          <p:nvPr/>
        </p:nvSpPr>
        <p:spPr>
          <a:xfrm>
            <a:off x="9544050" y="1952625"/>
            <a:ext cx="2000250" cy="76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4065DB-54B2-8E3C-875F-CE8882FEDF23}"/>
              </a:ext>
            </a:extLst>
          </p:cNvPr>
          <p:cNvSpPr>
            <a:spLocks noGrp="1"/>
          </p:cNvSpPr>
          <p:nvPr/>
        </p:nvSpPr>
        <p:spPr>
          <a:xfrm>
            <a:off x="9639300" y="2047875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Provider 抽象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LLM / Embedding / Rerank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421ED1C-7A56-189E-CB5C-22E919034B8E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1695450" y="2333625"/>
            <a:ext cx="40005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227AD98A-B134-03C8-13F1-B81B41F04A72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810000" y="2333625"/>
            <a:ext cx="4572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7813106-CF52-E6C8-3743-17E741F44843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6172200" y="2333625"/>
            <a:ext cx="4953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F8F1A74B-2B8A-8A6A-80BA-20E8F99AF3C0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9048750" y="2333625"/>
            <a:ext cx="4953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E82D193-AE2E-7BB4-0E75-9DB21E4C6E54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619250" cy="28575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C1C47A-9C04-FC08-1307-345839E9EB66}"/>
              </a:ext>
            </a:extLst>
          </p:cNvPr>
          <p:cNvSpPr>
            <a:spLocks noGrp="1"/>
          </p:cNvSpPr>
          <p:nvPr/>
        </p:nvSpPr>
        <p:spPr>
          <a:xfrm>
            <a:off x="552450" y="31908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 err="1">
                <a:solidFill>
                  <a:srgbClr val="FFFFFF"/>
                </a:solidFill>
              </a:rPr>
              <a:t>分阶段</a:t>
            </a:r>
            <a:r>
              <a:rPr sz="1050" b="1" dirty="0">
                <a:solidFill>
                  <a:srgbClr val="FFFFFF"/>
                </a:solidFill>
              </a:rPr>
              <a:t> RAG </a:t>
            </a:r>
            <a:r>
              <a:rPr sz="1050" b="1" dirty="0" err="1">
                <a:solidFill>
                  <a:srgbClr val="FFFFFF"/>
                </a:solidFill>
              </a:rPr>
              <a:t>管线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22FCD96-766B-70D4-1E5D-415B6A07ECF7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1619250" cy="742950"/>
          </a:xfrm>
          <a:prstGeom prst="roundRect">
            <a:avLst>
              <a:gd name="adj" fmla="val 2564"/>
            </a:avLst>
          </a:prstGeom>
          <a:solidFill>
            <a:srgbClr val="F4F4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9522E0-AA0B-E13C-3409-2C21DE34A82D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 err="1">
                <a:solidFill>
                  <a:srgbClr val="111111"/>
                </a:solidFill>
              </a:rPr>
              <a:t>多模态文档理解</a:t>
            </a:r>
            <a:endParaRPr sz="1200" b="1" dirty="0">
              <a:solidFill>
                <a:srgbClr val="111111"/>
              </a:solidFill>
            </a:endParaRP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>
                <a:solidFill>
                  <a:srgbClr val="111111"/>
                </a:solidFill>
              </a:rPr>
              <a:t>PDF /</a:t>
            </a:r>
            <a:r>
              <a:rPr lang="en-US" sz="1200" b="1" dirty="0">
                <a:solidFill>
                  <a:srgbClr val="111111"/>
                </a:solidFill>
              </a:rPr>
              <a:t> </a:t>
            </a:r>
            <a:r>
              <a:rPr lang="en-US" altLang="zh-CN" sz="1200" b="1" dirty="0">
                <a:solidFill>
                  <a:srgbClr val="111111"/>
                </a:solidFill>
              </a:rPr>
              <a:t>Word /</a:t>
            </a:r>
            <a:r>
              <a:rPr sz="1200" b="1" dirty="0">
                <a:solidFill>
                  <a:srgbClr val="111111"/>
                </a:solidFill>
              </a:rPr>
              <a:t> </a:t>
            </a:r>
            <a:r>
              <a:rPr lang="zh-CN" altLang="en-US" sz="1200" b="1" dirty="0">
                <a:solidFill>
                  <a:srgbClr val="111111"/>
                </a:solidFill>
              </a:rPr>
              <a:t>照片</a:t>
            </a:r>
            <a:r>
              <a:rPr sz="1200" b="1" dirty="0">
                <a:solidFill>
                  <a:srgbClr val="111111"/>
                </a:solidFill>
              </a:rPr>
              <a:t> / </a:t>
            </a:r>
            <a:r>
              <a:rPr sz="1200" b="1" dirty="0" err="1">
                <a:solidFill>
                  <a:srgbClr val="111111"/>
                </a:solidFill>
              </a:rPr>
              <a:t>流程图</a:t>
            </a: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519F4E9-5858-B87A-FF1A-1E4B86C86660}"/>
              </a:ext>
            </a:extLst>
          </p:cNvPr>
          <p:cNvSpPr>
            <a:spLocks noGrp="1"/>
          </p:cNvSpPr>
          <p:nvPr/>
        </p:nvSpPr>
        <p:spPr>
          <a:xfrm>
            <a:off x="2495550" y="3619500"/>
            <a:ext cx="1619250" cy="742950"/>
          </a:xfrm>
          <a:prstGeom prst="roundRect">
            <a:avLst>
              <a:gd name="adj" fmla="val 2564"/>
            </a:avLst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511B52-EC6A-AC98-3E4A-7CEF0DCF15A3}"/>
              </a:ext>
            </a:extLst>
          </p:cNvPr>
          <p:cNvSpPr>
            <a:spLocks noGrp="1"/>
          </p:cNvSpPr>
          <p:nvPr/>
        </p:nvSpPr>
        <p:spPr>
          <a:xfrm>
            <a:off x="2590800" y="37147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 err="1">
                <a:solidFill>
                  <a:srgbClr val="111111"/>
                </a:solidFill>
              </a:rPr>
              <a:t>多通道召回</a:t>
            </a:r>
            <a:endParaRPr sz="1200" b="1" dirty="0">
              <a:solidFill>
                <a:srgbClr val="111111"/>
              </a:solidFill>
            </a:endParaRP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 dirty="0">
                <a:solidFill>
                  <a:srgbClr val="111111"/>
                </a:solidFill>
              </a:rPr>
              <a:t>Dense · Sparse · Graph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AED6A9B-996B-8E54-B1BB-6BE7A3689B88}"/>
              </a:ext>
            </a:extLst>
          </p:cNvPr>
          <p:cNvSpPr>
            <a:spLocks noGrp="1"/>
          </p:cNvSpPr>
          <p:nvPr/>
        </p:nvSpPr>
        <p:spPr>
          <a:xfrm>
            <a:off x="4533900" y="3619500"/>
            <a:ext cx="1619250" cy="742950"/>
          </a:xfrm>
          <a:prstGeom prst="roundRect">
            <a:avLst>
              <a:gd name="adj" fmla="val 2564"/>
            </a:avLst>
          </a:prstGeom>
          <a:solidFill>
            <a:srgbClr val="F4F4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BFD0C6-6E42-2393-8B97-AA41E29BCBFD}"/>
              </a:ext>
            </a:extLst>
          </p:cNvPr>
          <p:cNvSpPr>
            <a:spLocks noGrp="1"/>
          </p:cNvSpPr>
          <p:nvPr/>
        </p:nvSpPr>
        <p:spPr>
          <a:xfrm>
            <a:off x="4629150" y="37147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融合与精排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去重 / Rerank / 调权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123C9F-886C-51C1-0192-58EF8E383559}"/>
              </a:ext>
            </a:extLst>
          </p:cNvPr>
          <p:cNvSpPr>
            <a:spLocks noGrp="1"/>
          </p:cNvSpPr>
          <p:nvPr/>
        </p:nvSpPr>
        <p:spPr>
          <a:xfrm>
            <a:off x="6572250" y="3619500"/>
            <a:ext cx="1619250" cy="742950"/>
          </a:xfrm>
          <a:prstGeom prst="roundRect">
            <a:avLst>
              <a:gd name="adj" fmla="val 2564"/>
            </a:avLst>
          </a:prstGeom>
          <a:solidFill>
            <a:srgbClr val="F1F7F3"/>
          </a:solidFill>
          <a:ln w="9525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0EE5DC-E1BF-A89C-FBF1-55A21DF39908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权限过滤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文档 / Chunk 级控制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00E2D6A-2BB5-CB49-398B-4A4C6B61FEC3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1619250" cy="742950"/>
          </a:xfrm>
          <a:prstGeom prst="roundRect">
            <a:avLst>
              <a:gd name="adj" fmla="val 2564"/>
            </a:avLst>
          </a:prstGeom>
          <a:solidFill>
            <a:srgbClr val="F4F4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AAA5D8-68AF-6E3B-9CC3-7F7C11FA16CA}"/>
              </a:ext>
            </a:extLst>
          </p:cNvPr>
          <p:cNvSpPr>
            <a:spLocks noGrp="1"/>
          </p:cNvSpPr>
          <p:nvPr/>
        </p:nvSpPr>
        <p:spPr>
          <a:xfrm>
            <a:off x="8705850" y="37147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答案生成与引用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Answer / Evidence / Citation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048AAAD-8898-3597-A7DE-95B85C4CD48C}"/>
              </a:ext>
            </a:extLst>
          </p:cNvPr>
          <p:cNvSpPr>
            <a:spLocks noGrp="1"/>
          </p:cNvSpPr>
          <p:nvPr/>
        </p:nvSpPr>
        <p:spPr>
          <a:xfrm>
            <a:off x="10648950" y="3619500"/>
            <a:ext cx="1085850" cy="742950"/>
          </a:xfrm>
          <a:prstGeom prst="roundRect">
            <a:avLst>
              <a:gd name="adj" fmla="val 2564"/>
            </a:avLst>
          </a:prstGeom>
          <a:solidFill>
            <a:srgbClr val="EFF5FA"/>
          </a:solidFill>
          <a:ln w="9525">
            <a:solidFill>
              <a:srgbClr val="255D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9F38BA-31C9-4AA5-C2B5-5EEAB38B68FC}"/>
              </a:ext>
            </a:extLst>
          </p:cNvPr>
          <p:cNvSpPr>
            <a:spLocks noGrp="1"/>
          </p:cNvSpPr>
          <p:nvPr/>
        </p:nvSpPr>
        <p:spPr>
          <a:xfrm>
            <a:off x="10744200" y="3714750"/>
            <a:ext cx="895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 dirty="0">
                <a:solidFill>
                  <a:srgbClr val="111111"/>
                </a:solidFill>
              </a:rPr>
              <a:t>Trace &amp; Metrics</a:t>
            </a:r>
          </a:p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 dirty="0" err="1">
                <a:solidFill>
                  <a:srgbClr val="111111"/>
                </a:solidFill>
              </a:rPr>
              <a:t>可解释</a:t>
            </a:r>
            <a:r>
              <a:rPr sz="975" b="1" dirty="0">
                <a:solidFill>
                  <a:srgbClr val="111111"/>
                </a:solidFill>
              </a:rPr>
              <a:t> </a:t>
            </a:r>
            <a:r>
              <a:rPr sz="975" b="1" dirty="0" err="1">
                <a:solidFill>
                  <a:srgbClr val="111111"/>
                </a:solidFill>
              </a:rPr>
              <a:t>可优化</a:t>
            </a:r>
            <a:endParaRPr sz="975" b="1" dirty="0">
              <a:solidFill>
                <a:srgbClr val="111111"/>
              </a:solidFill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99613AAF-3CC3-81C5-117E-615F68329526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>
            <a:off x="2076450" y="3990975"/>
            <a:ext cx="4191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710E4B27-28BA-3135-B267-9CF7F943E957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4114800" y="3990975"/>
            <a:ext cx="4191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66BF26CA-14EA-F70C-9E4F-B7FF207D3376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6153150" y="3990975"/>
            <a:ext cx="4191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B3B91B6B-42F0-530F-EFFC-70A0CD4C672D}"/>
              </a:ext>
            </a:extLst>
          </p:cNvPr>
          <p:cNvCxnSpPr>
            <a:stCxn id="27" idx="3"/>
            <a:endCxn id="29" idx="1"/>
          </p:cNvCxnSpPr>
          <p:nvPr/>
        </p:nvCxnSpPr>
        <p:spPr>
          <a:xfrm>
            <a:off x="8191500" y="3990975"/>
            <a:ext cx="4191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7B26D65D-BD03-EB47-982C-422D9F446041}"/>
              </a:ext>
            </a:extLst>
          </p:cNvPr>
          <p:cNvCxnSpPr>
            <a:stCxn id="29" idx="3"/>
            <a:endCxn id="31" idx="1"/>
          </p:cNvCxnSpPr>
          <p:nvPr/>
        </p:nvCxnSpPr>
        <p:spPr>
          <a:xfrm>
            <a:off x="10229850" y="3990975"/>
            <a:ext cx="419100" cy="0"/>
          </a:xfrm>
          <a:prstGeom prst="straightConnector1">
            <a:avLst/>
          </a:prstGeom>
          <a:ln w="14288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1CA3CB6-C21B-4C05-E771-7096E688E6A1}"/>
              </a:ext>
            </a:extLst>
          </p:cNvPr>
          <p:cNvSpPr>
            <a:spLocks noGrp="1"/>
          </p:cNvSpPr>
          <p:nvPr/>
        </p:nvSpPr>
        <p:spPr>
          <a:xfrm>
            <a:off x="457200" y="4781550"/>
            <a:ext cx="1809750" cy="28575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7D29A5-496D-2529-F7DF-5D07E593DCF7}"/>
              </a:ext>
            </a:extLst>
          </p:cNvPr>
          <p:cNvSpPr>
            <a:spLocks noGrp="1"/>
          </p:cNvSpPr>
          <p:nvPr/>
        </p:nvSpPr>
        <p:spPr>
          <a:xfrm>
            <a:off x="552450" y="48291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底层技术与服务组件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313F69A-C654-B751-3A25-657C5B9CE93F}"/>
              </a:ext>
            </a:extLst>
          </p:cNvPr>
          <p:cNvSpPr>
            <a:spLocks noGrp="1"/>
          </p:cNvSpPr>
          <p:nvPr/>
        </p:nvSpPr>
        <p:spPr>
          <a:xfrm>
            <a:off x="457200" y="5238750"/>
            <a:ext cx="1381125" cy="7810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PostgreSQL / MySQL</a:t>
            </a: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主数据真值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95B0BD-2576-68F9-61F5-48BAD3DC9FCE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190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8F35D5A-2D13-CB68-7CEA-0DB4B326AB0F}"/>
              </a:ext>
            </a:extLst>
          </p:cNvPr>
          <p:cNvSpPr>
            <a:spLocks noGrp="1"/>
          </p:cNvSpPr>
          <p:nvPr/>
        </p:nvSpPr>
        <p:spPr>
          <a:xfrm>
            <a:off x="2038350" y="5238750"/>
            <a:ext cx="1238250" cy="7810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>
                <a:solidFill>
                  <a:srgbClr val="111111"/>
                </a:solidFill>
              </a:rPr>
              <a:t>MinIO</a:t>
            </a:r>
          </a:p>
          <a:p>
            <a:pPr algn="ctr"/>
            <a:r>
              <a:rPr lang="zh-CN" altLang="en-US" sz="1200" b="1">
                <a:solidFill>
                  <a:srgbClr val="111111"/>
                </a:solidFill>
              </a:rPr>
              <a:t>对象存储</a:t>
            </a:r>
            <a:endParaRPr lang="zh-CN" altLang="en-US" sz="1200" b="1" dirty="0">
              <a:solidFill>
                <a:srgbClr val="11111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3E8B3-2FCB-F4E9-C6F5-F0CA22455B6E}"/>
              </a:ext>
            </a:extLst>
          </p:cNvPr>
          <p:cNvSpPr>
            <a:spLocks noGrp="1"/>
          </p:cNvSpPr>
          <p:nvPr/>
        </p:nvSpPr>
        <p:spPr>
          <a:xfrm>
            <a:off x="2133600" y="53340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80EEE16-D068-BD35-BDC8-FE6B5FDAEDD1}"/>
              </a:ext>
            </a:extLst>
          </p:cNvPr>
          <p:cNvSpPr>
            <a:spLocks noGrp="1"/>
          </p:cNvSpPr>
          <p:nvPr/>
        </p:nvSpPr>
        <p:spPr>
          <a:xfrm>
            <a:off x="3476625" y="5238749"/>
            <a:ext cx="1428750" cy="781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Milvus / </a:t>
            </a:r>
            <a:br>
              <a:rPr lang="en-US" altLang="zh-CN" sz="1200" b="1" dirty="0">
                <a:solidFill>
                  <a:srgbClr val="111111"/>
                </a:solidFill>
              </a:rPr>
            </a:br>
            <a:r>
              <a:rPr lang="en-US" altLang="zh-CN" sz="1200" b="1" dirty="0" err="1">
                <a:solidFill>
                  <a:srgbClr val="111111"/>
                </a:solidFill>
              </a:rPr>
              <a:t>pgvector</a:t>
            </a:r>
            <a:endParaRPr lang="en-US" altLang="zh-CN" sz="1200" b="1" dirty="0">
              <a:solidFill>
                <a:srgbClr val="111111"/>
              </a:solidFill>
            </a:endParaRP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向量检索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BD8C451-F0C8-57C2-0B29-C8574BCD83C8}"/>
              </a:ext>
            </a:extLst>
          </p:cNvPr>
          <p:cNvSpPr>
            <a:spLocks noGrp="1"/>
          </p:cNvSpPr>
          <p:nvPr/>
        </p:nvSpPr>
        <p:spPr>
          <a:xfrm>
            <a:off x="3571875" y="53340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B5B267D-5365-C236-1998-03A9431F7410}"/>
              </a:ext>
            </a:extLst>
          </p:cNvPr>
          <p:cNvSpPr>
            <a:spLocks noGrp="1"/>
          </p:cNvSpPr>
          <p:nvPr/>
        </p:nvSpPr>
        <p:spPr>
          <a:xfrm>
            <a:off x="5105400" y="5238750"/>
            <a:ext cx="1381125" cy="7810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OpenSearch /</a:t>
            </a:r>
          </a:p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Elasticsearch</a:t>
            </a: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关键词检索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20A7020-F1D1-E208-10AD-23A1CCE7AAC7}"/>
              </a:ext>
            </a:extLst>
          </p:cNvPr>
          <p:cNvSpPr>
            <a:spLocks noGrp="1"/>
          </p:cNvSpPr>
          <p:nvPr/>
        </p:nvSpPr>
        <p:spPr>
          <a:xfrm>
            <a:off x="6686550" y="5238749"/>
            <a:ext cx="1238250" cy="79057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1200" b="1" dirty="0">
                <a:solidFill>
                  <a:srgbClr val="111111"/>
                </a:solidFill>
              </a:rPr>
              <a:t>Neo4j</a:t>
            </a:r>
          </a:p>
          <a:p>
            <a:pPr algn="ctr"/>
            <a:r>
              <a:rPr lang="zh-CN" altLang="en-US" sz="1200" b="1" dirty="0">
                <a:solidFill>
                  <a:srgbClr val="111111"/>
                </a:solidFill>
              </a:rPr>
              <a:t>知识图谱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288E1A-F248-9B41-3117-4DABAB98B2A6}"/>
              </a:ext>
            </a:extLst>
          </p:cNvPr>
          <p:cNvSpPr>
            <a:spLocks noGrp="1"/>
          </p:cNvSpPr>
          <p:nvPr/>
        </p:nvSpPr>
        <p:spPr>
          <a:xfrm>
            <a:off x="6781800" y="5334000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A1B4EF1-CFE8-4CED-96A3-7CFCAA884742}"/>
              </a:ext>
            </a:extLst>
          </p:cNvPr>
          <p:cNvSpPr>
            <a:spLocks noGrp="1"/>
          </p:cNvSpPr>
          <p:nvPr/>
        </p:nvSpPr>
        <p:spPr>
          <a:xfrm>
            <a:off x="8124825" y="5238750"/>
            <a:ext cx="1381125" cy="78104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lang="en-US" altLang="zh-CN" b="1" dirty="0">
                <a:solidFill>
                  <a:srgbClr val="111111"/>
                </a:solidFill>
              </a:rPr>
              <a:t>Celery + Redis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lang="zh-CN" altLang="en-US" b="1" dirty="0">
                <a:solidFill>
                  <a:srgbClr val="111111"/>
                </a:solidFill>
              </a:rPr>
              <a:t>异步任务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4ADDDB9-FED6-AC20-34DD-0CD4EB8D4ACD}"/>
              </a:ext>
            </a:extLst>
          </p:cNvPr>
          <p:cNvSpPr>
            <a:spLocks noGrp="1"/>
          </p:cNvSpPr>
          <p:nvPr/>
        </p:nvSpPr>
        <p:spPr>
          <a:xfrm>
            <a:off x="8220075" y="5334000"/>
            <a:ext cx="1190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endParaRPr sz="1200" b="1" dirty="0">
              <a:solidFill>
                <a:srgbClr val="11111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AC1C3CF-1613-6DB3-8A1B-3AE2BD3FF853}"/>
              </a:ext>
            </a:extLst>
          </p:cNvPr>
          <p:cNvSpPr>
            <a:spLocks noGrp="1"/>
          </p:cNvSpPr>
          <p:nvPr/>
        </p:nvSpPr>
        <p:spPr>
          <a:xfrm>
            <a:off x="9705975" y="5124450"/>
            <a:ext cx="1809750" cy="819150"/>
          </a:xfrm>
          <a:prstGeom prst="roundRect">
            <a:avLst>
              <a:gd name="adj" fmla="val 2326"/>
            </a:avLst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9A5720E-931F-722E-213A-C1CBC77A2004}"/>
              </a:ext>
            </a:extLst>
          </p:cNvPr>
          <p:cNvSpPr>
            <a:spLocks noGrp="1"/>
          </p:cNvSpPr>
          <p:nvPr/>
        </p:nvSpPr>
        <p:spPr>
          <a:xfrm>
            <a:off x="9801225" y="521970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配置版本管理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Diff / 激活 / 回滚</a:t>
            </a:r>
          </a:p>
        </p:txBody>
      </p: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2E81F97F-C750-203A-6ECB-6492ED05F9D5}"/>
              </a:ext>
            </a:extLst>
          </p:cNvPr>
          <p:cNvCxnSpPr>
            <a:cxnSpLocks/>
            <a:stCxn id="21" idx="2"/>
            <a:endCxn id="42" idx="0"/>
          </p:cNvCxnSpPr>
          <p:nvPr/>
        </p:nvCxnSpPr>
        <p:spPr>
          <a:xfrm rot="16200000" flipH="1">
            <a:off x="1524000" y="4105275"/>
            <a:ext cx="876300" cy="1390650"/>
          </a:xfrm>
          <a:prstGeom prst="bentConnector3">
            <a:avLst>
              <a:gd name="adj1" fmla="val 5000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6" name="连接符: 肘形 115">
            <a:extLst>
              <a:ext uri="{FF2B5EF4-FFF2-40B4-BE49-F238E27FC236}">
                <a16:creationId xmlns:a16="http://schemas.microsoft.com/office/drawing/2014/main" id="{EA37EE35-ABCF-3A7E-07BA-9CC4AB320F5A}"/>
              </a:ext>
            </a:extLst>
          </p:cNvPr>
          <p:cNvCxnSpPr>
            <a:cxnSpLocks/>
            <a:stCxn id="21" idx="2"/>
            <a:endCxn id="50" idx="0"/>
          </p:cNvCxnSpPr>
          <p:nvPr/>
        </p:nvCxnSpPr>
        <p:spPr>
          <a:xfrm rot="16200000" flipH="1">
            <a:off x="4602956" y="1026318"/>
            <a:ext cx="876300" cy="7548563"/>
          </a:xfrm>
          <a:prstGeom prst="bentConnector3">
            <a:avLst>
              <a:gd name="adj1" fmla="val 5000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60514C1B-98F1-5F3B-EFF0-FA8D660EF0F4}"/>
              </a:ext>
            </a:extLst>
          </p:cNvPr>
          <p:cNvCxnSpPr>
            <a:cxnSpLocks/>
            <a:stCxn id="23" idx="2"/>
            <a:endCxn id="44" idx="0"/>
          </p:cNvCxnSpPr>
          <p:nvPr/>
        </p:nvCxnSpPr>
        <p:spPr>
          <a:xfrm rot="16200000" flipH="1">
            <a:off x="3309938" y="4357686"/>
            <a:ext cx="876299" cy="885825"/>
          </a:xfrm>
          <a:prstGeom prst="bentConnector3">
            <a:avLst>
              <a:gd name="adj1" fmla="val 5000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8" name="连接符: 肘形 117">
            <a:extLst>
              <a:ext uri="{FF2B5EF4-FFF2-40B4-BE49-F238E27FC236}">
                <a16:creationId xmlns:a16="http://schemas.microsoft.com/office/drawing/2014/main" id="{CBB82393-959C-2660-5C56-AD884B25679A}"/>
              </a:ext>
            </a:extLst>
          </p:cNvPr>
          <p:cNvCxnSpPr>
            <a:cxnSpLocks/>
            <a:stCxn id="23" idx="2"/>
            <a:endCxn id="46" idx="0"/>
          </p:cNvCxnSpPr>
          <p:nvPr/>
        </p:nvCxnSpPr>
        <p:spPr>
          <a:xfrm rot="16200000" flipH="1">
            <a:off x="4112419" y="3555206"/>
            <a:ext cx="876300" cy="2490788"/>
          </a:xfrm>
          <a:prstGeom prst="bentConnector3">
            <a:avLst>
              <a:gd name="adj1" fmla="val 5000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AEA0C9F8-8F56-BC9B-287D-74C07B68C7D5}"/>
              </a:ext>
            </a:extLst>
          </p:cNvPr>
          <p:cNvCxnSpPr>
            <a:cxnSpLocks/>
            <a:stCxn id="23" idx="2"/>
            <a:endCxn id="48" idx="0"/>
          </p:cNvCxnSpPr>
          <p:nvPr/>
        </p:nvCxnSpPr>
        <p:spPr>
          <a:xfrm rot="16200000" flipH="1">
            <a:off x="4867276" y="2800349"/>
            <a:ext cx="876299" cy="4000500"/>
          </a:xfrm>
          <a:prstGeom prst="bentConnector3">
            <a:avLst>
              <a:gd name="adj1" fmla="val 5000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6596FFEF-61D3-10DE-4D03-F9B383262EC2}"/>
              </a:ext>
            </a:extLst>
          </p:cNvPr>
          <p:cNvCxnSpPr>
            <a:cxnSpLocks/>
            <a:stCxn id="27" idx="2"/>
            <a:endCxn id="40" idx="0"/>
          </p:cNvCxnSpPr>
          <p:nvPr/>
        </p:nvCxnSpPr>
        <p:spPr>
          <a:xfrm rot="5400000">
            <a:off x="3826669" y="1683544"/>
            <a:ext cx="876300" cy="6234112"/>
          </a:xfrm>
          <a:prstGeom prst="bentConnector3">
            <a:avLst>
              <a:gd name="adj1" fmla="val 5000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21" name="连接符: 肘形 120">
            <a:extLst>
              <a:ext uri="{FF2B5EF4-FFF2-40B4-BE49-F238E27FC236}">
                <a16:creationId xmlns:a16="http://schemas.microsoft.com/office/drawing/2014/main" id="{D519071D-DC82-66FB-D737-02C3C09C57D5}"/>
              </a:ext>
            </a:extLst>
          </p:cNvPr>
          <p:cNvCxnSpPr>
            <a:stCxn id="11" idx="2"/>
            <a:endCxn id="52" idx="0"/>
          </p:cNvCxnSpPr>
          <p:nvPr/>
        </p:nvCxnSpPr>
        <p:spPr>
          <a:xfrm>
            <a:off x="7858125" y="2714625"/>
            <a:ext cx="2752725" cy="2409825"/>
          </a:xfrm>
          <a:prstGeom prst="bentConnector4">
            <a:avLst>
              <a:gd name="adj1" fmla="val 52349"/>
              <a:gd name="adj2" fmla="val 25470"/>
            </a:avLst>
          </a:prstGeom>
          <a:ln w="14288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5574607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687</Words>
  <Application>Microsoft Office PowerPoint</Application>
  <DocSecurity>0</DocSecurity>
  <PresentationFormat>宽屏</PresentationFormat>
  <Paragraphs>176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GuoYang Jin</cp:lastModifiedBy>
  <cp:revision>12</cp:revision>
  <dcterms:created xsi:type="dcterms:W3CDTF">2026-06-30T08:46:23Z</dcterms:created>
  <dcterms:modified xsi:type="dcterms:W3CDTF">2026-06-30T16:10:26Z</dcterms:modified>
</cp:coreProperties>
</file>